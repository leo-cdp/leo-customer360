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sinh viên: hai người cùng trình độ trung cấp có cần cùng một lộ trình không? Mọi ký hiệu đều được giải thích ở slide dùng nó và ở bảng tra cuối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để sinh viên không nhầm với persona của UX hay persona của Jung.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là Behavior (thói quen), E là Emotional confidence (tự tin). Bài thật dùng 7 chiều, ở đây dùng 2 chiều để dễ hình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tính này là nền của mọi slide sau: TG là khoảng cách, NBTA chọn theo hướng, lộ trình là quỹ đạo.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Quyết định cá nhân thuộc về người học ở mọi giai đoạn. Vector chỉ hỗ trợ giữ persona đi đúng hướng so với mục tiêu do chính họ chọn. P là persona hiện tại, P* là persona mong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hỗ trợ persona đi đúng hướng trên Data Journey Map (slide 5). P là persona hiện tại, P* là persona mong muốn, S là độ bất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với Data Journey Map ở slide 5: mỗi vòng lặp là một lượt đi qua các giai đoạn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từng dòng. Chiều R là Relational support, không liên quan đến nhiễu R_DIAG ở slide Kalman.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vector đều đọc theo thứ tự V, B, N, I, E, A,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chiều chỉ tính khi CTRL bằng 1. Có 5 chiều nên khoảng cách lớn nhất là căn bậc hai của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 là ký hiệu của số đo quan sát. Các hằng số 0.08 và 0.82 chuẩn hóa xác suất có học một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bước: dự đoán (bất định tăng theo thời gian) rồi cập nhật (bất định giảm khi có số đo). Nghỉ học lâu thì S tăng.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là giả thuyết về cấu trúc, cần kiểm tra độ ổn định trước khi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NBTA là viết tắt do bài đặt ra. Thompson Sampling là một thuật toán bandit.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Thảo luận: ai chịu trách nhiệm khi AI thuyết phục người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nhánh dùng cùng trạng thái đầu và cùng nhiễu, nên khác biệt đến từ hoạt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tuần chọn hoạt động có điểm ròng cao nhất, xen kẽ để người học không chán. Chiều E tăng gián tiếp khi B và N tăng.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Thói quen là khoảng cách lớn nhất nên bài 5 phút xuất hiện nhiều; các tuần 3 và 6 xen hoạt động khác để tránh nhàm chán.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dòng của events.csv là một phiên học. Các cột này sinh ra các số đo z ở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bài. Nhắc lại giới hạn: kết quả minh họa cơ chế, không chứng minh hiệu quả trên người học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Dùng làm bảng tra khi sinh viên gặp thuật ngữ tiếng Anh trong mã và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Các thuật ngữ thuật toán và an toàn dùng trong mã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B1F2A"/>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8720"/>
            <a:ext cx="10566400" cy="4536480"/>
          </a:xfrm>
          <a:prstGeom prst="rect">
            <a:avLst/>
          </a:prstGeom>
          <a:noFill/>
          <a:ln/>
        </p:spPr>
        <p:txBody>
          <a:bodyPr wrap="square" lIns="0" tIns="0" rIns="0" bIns="0" rtlCol="0" anchor="t"/>
          <a:lstStyle>
            <a:lvl1pPr algn="l" indent="0" marL="0">
              <a:lnSpc>
                <a:spcPct val="140000"/>
              </a:lnSpc>
              <a:buNone/>
              <a:defRPr lang="en-US" sz="1600" dirty="0">
                <a:solidFill>
                  <a:srgbClr val="1B1F2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B1F2A"/>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508720"/>
            <a:ext cx="10566400" cy="4536480"/>
          </a:xfrm>
          <a:prstGeom prst="rect">
            <a:avLst/>
          </a:prstGeom>
          <a:noFill/>
          <a:ln/>
        </p:spPr>
        <p:txBody>
          <a:bodyPr wrap="square" lIns="0" tIns="0" rIns="0" bIns="0" rtlCol="0" anchor="t"/>
          <a:lstStyle>
            <a:lvl1pPr algn="l" indent="0" marL="0">
              <a:lnSpc>
                <a:spcPct val="140000"/>
              </a:lnSpc>
              <a:buNone/>
              <a:defRPr lang="en-US" sz="1600" dirty="0">
                <a:solidFill>
                  <a:srgbClr val="1B1F2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p:bgPr>
    </p:bg>
    <p:spTree>
      <p:nvGrpSpPr>
        <p:cNvPr id="1" name=""/>
        <p:cNvGrpSpPr/>
        <p:nvPr/>
      </p:nvGrpSpPr>
      <p:grpSpPr>
        <a:xfrm>
          <a:off x="0" y="0"/>
          <a:ext cx="0" cy="0"/>
          <a:chOff x="0" y="0"/>
          <a:chExt cx="0" cy="0"/>
        </a:xfrm>
      </p:grpSpPr>
      <p:sp>
        <p:nvSpPr>
          <p:cNvPr id="2" name="Text 0"/>
          <p:cNvSpPr/>
          <p:nvPr/>
        </p:nvSpPr>
        <p:spPr>
          <a:xfrm>
            <a:off x="812800" y="24917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C4C6"/>
                </a:solidFill>
                <a:latin typeface="Arial" pitchFamily="34" charset="0"/>
                <a:ea typeface="Arial" pitchFamily="34" charset="-122"/>
                <a:cs typeface="Arial" pitchFamily="34" charset="-120"/>
              </a:rPr>
              <a:t>Bài giảng: Marketing 8.0 và AI</a:t>
            </a:r>
            <a:endParaRPr lang="en-US" sz="1600" dirty="0"/>
          </a:p>
        </p:txBody>
      </p:sp>
      <p:sp>
        <p:nvSpPr>
          <p:cNvPr id="3" name="Text 1"/>
          <p:cNvSpPr/>
          <p:nvPr>
            <p:ph type="title"/>
          </p:nvPr>
        </p:nvSpPr>
        <p:spPr>
          <a:xfrm>
            <a:off x="812800" y="2979440"/>
            <a:ext cx="10883392" cy="692150"/>
          </a:xfrm>
          <a:prstGeom prst="rect">
            <a:avLst/>
          </a:prstGeom>
          <a:noFill/>
          <a:ln/>
        </p:spPr>
        <p:txBody>
          <a:bodyPr wrap="square" lIns="0" tIns="0" rIns="0" bIns="0" rtlCol="0" anchor="t">
            <a:normAutofit/>
          </a:bodyPr>
          <a:lstStyle/>
          <a:p>
            <a:pPr algn="l" indent="0" marL="0">
              <a:lnSpc>
                <a:spcPts val="5250"/>
              </a:lnSpc>
              <a:buNone/>
            </a:pPr>
            <a:r>
              <a:rPr lang="en-US" sz="5000" b="1" i="0" dirty="0">
                <a:solidFill>
                  <a:srgbClr val="F6F4EF"/>
                </a:solidFill>
                <a:latin typeface="Georgia" pitchFamily="18" charset="0"/>
                <a:ea typeface="Georgia" pitchFamily="18" charset="-122"/>
                <a:cs typeface="Georgia" pitchFamily="18" charset="-120"/>
              </a:rPr>
              <a:t>Persona as a Vector</a:t>
            </a:r>
            <a:endParaRPr lang="en-US" sz="5000" dirty="0"/>
          </a:p>
        </p:txBody>
      </p:sp>
      <p:sp>
        <p:nvSpPr>
          <p:cNvPr id="4" name="Text 2"/>
          <p:cNvSpPr/>
          <p:nvPr/>
        </p:nvSpPr>
        <p:spPr>
          <a:xfrm>
            <a:off x="812800" y="3849390"/>
            <a:ext cx="10883392" cy="33903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D8D5CC"/>
                </a:solidFill>
                <a:latin typeface="Arial" pitchFamily="34" charset="0"/>
                <a:ea typeface="Arial" pitchFamily="34" charset="-122"/>
                <a:cs typeface="Arial" pitchFamily="34" charset="-120"/>
              </a:rPr>
              <a:t>Cá nhân hóa việc học tiếng Anh bằng vector trạng thái: ý tưởng, ký hiệu và mã Python</a:t>
            </a:r>
            <a:endParaRPr lang="en-US" sz="1900" dirty="0"/>
          </a:p>
        </p:txBody>
      </p:sp>
      <p:sp>
        <p:nvSpPr>
          <p:cNvPr id="5" name="Text 3"/>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DB6"/>
                </a:solidFill>
                <a:latin typeface="Arial" pitchFamily="34" charset="0"/>
                <a:ea typeface="Arial" pitchFamily="34" charset="-122"/>
                <a:cs typeface="Arial" pitchFamily="34" charset="-120"/>
              </a:rPr>
              <a:t>Persona as a Vector | 1/22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Persona là gì</a:t>
            </a:r>
            <a:endParaRPr lang="en-US" sz="2800" dirty="0"/>
          </a:p>
        </p:txBody>
      </p:sp>
      <p:sp>
        <p:nvSpPr>
          <p:cNvPr id="3" name="Shape 1"/>
          <p:cNvSpPr/>
          <p:nvPr/>
        </p:nvSpPr>
        <p:spPr>
          <a:xfrm>
            <a:off x="815975" y="1410295"/>
            <a:ext cx="3397250" cy="1682452"/>
          </a:xfrm>
          <a:prstGeom prst="roundRect">
            <a:avLst>
              <a:gd name="adj" fmla="val 5850"/>
            </a:avLst>
          </a:prstGeom>
          <a:solidFill>
            <a:srgbClr val="FFFFFF"/>
          </a:solidFill>
          <a:ln w="6350">
            <a:solidFill>
              <a:srgbClr val="DDD9CF"/>
            </a:solidFill>
            <a:prstDash val="solid"/>
          </a:ln>
        </p:spPr>
      </p:sp>
      <p:sp>
        <p:nvSpPr>
          <p:cNvPr id="4" name="Text 2"/>
          <p:cNvSpPr/>
          <p:nvPr/>
        </p:nvSpPr>
        <p:spPr>
          <a:xfrm>
            <a:off x="9969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Nguồn gốc của từ</a:t>
            </a:r>
            <a:endParaRPr lang="en-US" sz="1500" dirty="0"/>
          </a:p>
        </p:txBody>
      </p:sp>
      <p:sp>
        <p:nvSpPr>
          <p:cNvPr id="5" name="Text 3"/>
          <p:cNvSpPr/>
          <p:nvPr/>
        </p:nvSpPr>
        <p:spPr>
          <a:xfrm>
            <a:off x="996950" y="1883370"/>
            <a:ext cx="3126359" cy="105380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Persona là chữ Latin chỉ chiếc mặt nạ của diễn viên. Carl Jung dùng nó cho "gương mặt xã hội" mà một người trình ra với thế giới: chỉ là một lớp của con người, không phải toàn bộ.</a:t>
            </a:r>
            <a:endParaRPr lang="en-US" sz="1200" dirty="0"/>
          </a:p>
        </p:txBody>
      </p:sp>
      <p:sp>
        <p:nvSpPr>
          <p:cNvPr id="6" name="Shape 4"/>
          <p:cNvSpPr/>
          <p:nvPr/>
        </p:nvSpPr>
        <p:spPr>
          <a:xfrm>
            <a:off x="4397375" y="1410295"/>
            <a:ext cx="3397250" cy="1682452"/>
          </a:xfrm>
          <a:prstGeom prst="roundRect">
            <a:avLst>
              <a:gd name="adj" fmla="val 5850"/>
            </a:avLst>
          </a:prstGeom>
          <a:solidFill>
            <a:srgbClr val="FFFFFF"/>
          </a:solidFill>
          <a:ln w="6350">
            <a:solidFill>
              <a:srgbClr val="DDD9CF"/>
            </a:solidFill>
            <a:prstDash val="solid"/>
          </a:ln>
        </p:spPr>
      </p:sp>
      <p:sp>
        <p:nvSpPr>
          <p:cNvPr id="7" name="Text 5"/>
          <p:cNvSpPr/>
          <p:nvPr/>
        </p:nvSpPr>
        <p:spPr>
          <a:xfrm>
            <a:off x="4578350" y="1591270"/>
            <a:ext cx="32131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Persona trong thiết kế sản phẩm</a:t>
            </a:r>
            <a:endParaRPr lang="en-US" sz="1500" dirty="0"/>
          </a:p>
        </p:txBody>
      </p:sp>
      <p:sp>
        <p:nvSpPr>
          <p:cNvPr id="8" name="Text 6"/>
          <p:cNvSpPr/>
          <p:nvPr/>
        </p:nvSpPr>
        <p:spPr>
          <a:xfrm>
            <a:off x="4578350" y="1883370"/>
            <a:ext cx="3126359"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Alan Cooper (1999): một nhân vật hư cấu đại diện cho cả một nhóm người dùng, ví dụ "An, 28 tuổi, nhân viên văn phòng". Một nhân vật chung cho nhiều người.</a:t>
            </a:r>
            <a:endParaRPr lang="en-US" sz="1200" dirty="0"/>
          </a:p>
        </p:txBody>
      </p:sp>
      <p:sp>
        <p:nvSpPr>
          <p:cNvPr id="9" name="Shape 7"/>
          <p:cNvSpPr/>
          <p:nvPr/>
        </p:nvSpPr>
        <p:spPr>
          <a:xfrm>
            <a:off x="7978775" y="1410295"/>
            <a:ext cx="3397250" cy="1682452"/>
          </a:xfrm>
          <a:prstGeom prst="roundRect">
            <a:avLst>
              <a:gd name="adj" fmla="val 5850"/>
            </a:avLst>
          </a:prstGeom>
          <a:solidFill>
            <a:srgbClr val="FFFFFF"/>
          </a:solidFill>
          <a:ln w="6350">
            <a:solidFill>
              <a:srgbClr val="DDD9CF"/>
            </a:solidFill>
            <a:prstDash val="solid"/>
          </a:ln>
        </p:spPr>
      </p:sp>
      <p:sp>
        <p:nvSpPr>
          <p:cNvPr id="10" name="Text 8"/>
          <p:cNvSpPr/>
          <p:nvPr/>
        </p:nvSpPr>
        <p:spPr>
          <a:xfrm>
            <a:off x="81597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Persona trong bài này</a:t>
            </a:r>
            <a:endParaRPr lang="en-US" sz="1500" dirty="0"/>
          </a:p>
        </p:txBody>
      </p:sp>
      <p:sp>
        <p:nvSpPr>
          <p:cNvPr id="11" name="Text 9"/>
          <p:cNvSpPr/>
          <p:nvPr/>
        </p:nvSpPr>
        <p:spPr>
          <a:xfrm>
            <a:off x="8159750" y="1883370"/>
            <a:ext cx="3126359" cy="105380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Trạng thái ước lượng của MỘT người học cụ thể tại MỘT thời điểm, suy ra từ dấu vết hành vi (học bao lâu, làm đúng bao nhiêu câu). Đổi theo thời gian và không phải toàn bộ con người.</a:t>
            </a:r>
            <a:endParaRPr lang="en-US" sz="1200" dirty="0"/>
          </a:p>
        </p:txBody>
      </p:sp>
      <p:sp>
        <p:nvSpPr>
          <p:cNvPr id="12" name="Shape 10"/>
          <p:cNvSpPr/>
          <p:nvPr/>
        </p:nvSpPr>
        <p:spPr>
          <a:xfrm>
            <a:off x="815975" y="3302298"/>
            <a:ext cx="10560050" cy="2536527"/>
          </a:xfrm>
          <a:prstGeom prst="roundRect">
            <a:avLst>
              <a:gd name="adj" fmla="val 3880"/>
            </a:avLst>
          </a:prstGeom>
          <a:solidFill>
            <a:srgbClr val="FFFFFF"/>
          </a:solidFill>
          <a:ln w="6350">
            <a:solidFill>
              <a:srgbClr val="DDD9CF"/>
            </a:solidFill>
            <a:prstDash val="solid"/>
          </a:ln>
        </p:spPr>
      </p:sp>
      <p:sp>
        <p:nvSpPr>
          <p:cNvPr id="13" name="Text 11"/>
          <p:cNvSpPr/>
          <p:nvPr/>
        </p:nvSpPr>
        <p:spPr>
          <a:xfrm>
            <a:off x="996950" y="3483273"/>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Ghi nhớ</a:t>
            </a:r>
            <a:endParaRPr lang="en-US" sz="1500" dirty="0"/>
          </a:p>
        </p:txBody>
      </p:sp>
      <p:sp>
        <p:nvSpPr>
          <p:cNvPr id="14" name="Text 12"/>
          <p:cNvSpPr/>
          <p:nvPr/>
        </p:nvSpPr>
        <p:spPr>
          <a:xfrm>
            <a:off x="996950" y="3775373"/>
            <a:ext cx="1050404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Ba nghĩa khác nhau của cùng một từ. Từ đây về sau, persona luôn mang nghĩa thứ ba: một ước lượng, không phải sự thật đầy đủ về người đó.</a:t>
            </a:r>
            <a:endParaRPr lang="en-US" sz="1300" dirty="0"/>
          </a:p>
        </p:txBody>
      </p:sp>
      <p:sp>
        <p:nvSpPr>
          <p:cNvPr id="15" name="Text 13"/>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2/22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Vector là gì</a:t>
            </a:r>
            <a:endParaRPr lang="en-US" sz="2800" dirty="0"/>
          </a:p>
        </p:txBody>
      </p:sp>
      <p:sp>
        <p:nvSpPr>
          <p:cNvPr id="3" name="Shape 1"/>
          <p:cNvSpPr/>
          <p:nvPr/>
        </p:nvSpPr>
        <p:spPr>
          <a:xfrm>
            <a:off x="815975" y="1410295"/>
            <a:ext cx="4916587" cy="2977952"/>
          </a:xfrm>
          <a:prstGeom prst="roundRect">
            <a:avLst>
              <a:gd name="adj" fmla="val 3305"/>
            </a:avLst>
          </a:prstGeom>
          <a:solidFill>
            <a:srgbClr val="FFFFFF"/>
          </a:solidFill>
          <a:ln w="6350">
            <a:solidFill>
              <a:srgbClr val="DDD9CF"/>
            </a:solidFill>
            <a:prstDash val="solid"/>
          </a:ln>
        </p:spPr>
      </p:sp>
      <p:sp>
        <p:nvSpPr>
          <p:cNvPr id="4" name="Text 2"/>
          <p:cNvSpPr/>
          <p:nvPr/>
        </p:nvSpPr>
        <p:spPr>
          <a:xfrm>
            <a:off x="996950" y="1591270"/>
            <a:ext cx="46912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Định nghĩa</a:t>
            </a:r>
            <a:endParaRPr lang="en-US" sz="1500" dirty="0"/>
          </a:p>
        </p:txBody>
      </p:sp>
      <p:sp>
        <p:nvSpPr>
          <p:cNvPr id="5" name="Text 3"/>
          <p:cNvSpPr/>
          <p:nvPr/>
        </p:nvSpPr>
        <p:spPr>
          <a:xfrm>
            <a:off x="996950" y="1883370"/>
            <a:ext cx="469127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Vector là một danh sách có thứ tự các con số. Mỗi số là một chiều (một khía cạnh được đo).</a:t>
            </a:r>
            <a:endParaRPr lang="en-US" sz="1200" dirty="0"/>
          </a:p>
        </p:txBody>
      </p:sp>
      <p:sp>
        <p:nvSpPr>
          <p:cNvPr id="6" name="Text 4"/>
          <p:cNvSpPr/>
          <p:nvPr/>
        </p:nvSpPr>
        <p:spPr>
          <a:xfrm>
            <a:off x="996950" y="2358231"/>
            <a:ext cx="4691276"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Hình học: vector là một điểm trong không gian, mỗi chiều là một trục. Hai chiều thì là điểm trên mặt phẳng; bảy chiều thì là điểm trong không gian bảy trục.</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26237" y="1419820"/>
          <a:ext cx="5452963" cy="1291828"/>
        </p:xfrm>
        <a:graphic>
          <a:graphicData uri="http://schemas.openxmlformats.org/drawingml/2006/table">
            <a:tbl>
              <a:tblPr/>
              <a:tblGrid>
                <a:gridCol w="1817654"/>
                <a:gridCol w="1817654"/>
                <a:gridCol w="1817654"/>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Người học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B: thói quen</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E: tự tin</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An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0.25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0.25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Bình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0.80</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0.40</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Chi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0.70</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0.85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Shape 5"/>
          <p:cNvSpPr/>
          <p:nvPr/>
        </p:nvSpPr>
        <p:spPr>
          <a:xfrm>
            <a:off x="5916712" y="2794496"/>
            <a:ext cx="5459313" cy="1593751"/>
          </a:xfrm>
          <a:prstGeom prst="roundRect">
            <a:avLst>
              <a:gd name="adj" fmla="val 6176"/>
            </a:avLst>
          </a:prstGeom>
          <a:solidFill>
            <a:srgbClr val="FFFFFF"/>
          </a:solidFill>
          <a:ln w="6350">
            <a:solidFill>
              <a:srgbClr val="DDD9CF"/>
            </a:solidFill>
            <a:prstDash val="solid"/>
          </a:ln>
        </p:spPr>
      </p:sp>
      <p:sp>
        <p:nvSpPr>
          <p:cNvPr id="9" name="Text 6"/>
          <p:cNvSpPr/>
          <p:nvPr/>
        </p:nvSpPr>
        <p:spPr>
          <a:xfrm>
            <a:off x="6097687" y="2975471"/>
            <a:ext cx="5250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Cách đọc</a:t>
            </a:r>
            <a:endParaRPr lang="en-US" sz="1500" dirty="0"/>
          </a:p>
        </p:txBody>
      </p:sp>
      <p:sp>
        <p:nvSpPr>
          <p:cNvPr id="10" name="Text 7"/>
          <p:cNvSpPr/>
          <p:nvPr/>
        </p:nvSpPr>
        <p:spPr>
          <a:xfrm>
            <a:off x="6097687" y="3267571"/>
            <a:ext cx="525028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Mỗi người là một điểm có hai tọa độ (B, E), cùng thang từ 0 đến 1. Hai người ở gần nhau thì giống nhau về hai khía cạnh này.</a:t>
            </a:r>
            <a:endParaRPr lang="en-US" sz="1200" dirty="0"/>
          </a:p>
        </p:txBody>
      </p:sp>
      <p:sp>
        <p:nvSpPr>
          <p:cNvPr id="11" name="Text 8"/>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3/22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Vector cho ta ba phép tính mà nhãn không có</a:t>
            </a:r>
            <a:endParaRPr lang="en-US" sz="2800" dirty="0"/>
          </a:p>
        </p:txBody>
      </p:sp>
      <p:sp>
        <p:nvSpPr>
          <p:cNvPr id="3" name="Shape 1"/>
          <p:cNvSpPr/>
          <p:nvPr/>
        </p:nvSpPr>
        <p:spPr>
          <a:xfrm>
            <a:off x="815975" y="1410295"/>
            <a:ext cx="3397250" cy="1682452"/>
          </a:xfrm>
          <a:prstGeom prst="roundRect">
            <a:avLst>
              <a:gd name="adj" fmla="val 5850"/>
            </a:avLst>
          </a:prstGeom>
          <a:solidFill>
            <a:srgbClr val="FFFFFF"/>
          </a:solidFill>
          <a:ln w="6350">
            <a:solidFill>
              <a:srgbClr val="DDD9CF"/>
            </a:solidFill>
            <a:prstDash val="solid"/>
          </a:ln>
        </p:spPr>
      </p:sp>
      <p:sp>
        <p:nvSpPr>
          <p:cNvPr id="4" name="Text 2"/>
          <p:cNvSpPr/>
          <p:nvPr/>
        </p:nvSpPr>
        <p:spPr>
          <a:xfrm>
            <a:off x="9969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1. Khoảng cách</a:t>
            </a:r>
            <a:endParaRPr lang="en-US" sz="1500" dirty="0"/>
          </a:p>
        </p:txBody>
      </p:sp>
      <p:sp>
        <p:nvSpPr>
          <p:cNvPr id="5" name="Text 3"/>
          <p:cNvSpPr/>
          <p:nvPr/>
        </p:nvSpPr>
        <p:spPr>
          <a:xfrm>
            <a:off x="996950" y="1883370"/>
            <a:ext cx="3126359"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An (0.25, 0.25) và Bình (0.80, 0.40):</a:t>
            </a:r>
            <a:endParaRPr lang="en-US" sz="1200" dirty="0"/>
          </a:p>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√(0.55² + 0.15²) = √0.325 ≈ 0.57.</a:t>
            </a:r>
            <a:endParaRPr lang="en-US" sz="1200" dirty="0"/>
          </a:p>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Khoảng cách càng nhỏ, hai người càng giống nhau.</a:t>
            </a:r>
            <a:endParaRPr lang="en-US" sz="1200" dirty="0"/>
          </a:p>
        </p:txBody>
      </p:sp>
      <p:sp>
        <p:nvSpPr>
          <p:cNvPr id="6" name="Shape 4"/>
          <p:cNvSpPr/>
          <p:nvPr/>
        </p:nvSpPr>
        <p:spPr>
          <a:xfrm>
            <a:off x="4397375" y="1410295"/>
            <a:ext cx="3397250" cy="1682452"/>
          </a:xfrm>
          <a:prstGeom prst="roundRect">
            <a:avLst>
              <a:gd name="adj" fmla="val 5850"/>
            </a:avLst>
          </a:prstGeom>
          <a:solidFill>
            <a:srgbClr val="FFFFFF"/>
          </a:solidFill>
          <a:ln w="6350">
            <a:solidFill>
              <a:srgbClr val="DDD9CF"/>
            </a:solidFill>
            <a:prstDash val="solid"/>
          </a:ln>
        </p:spPr>
      </p:sp>
      <p:sp>
        <p:nvSpPr>
          <p:cNvPr id="7" name="Text 5"/>
          <p:cNvSpPr/>
          <p:nvPr/>
        </p:nvSpPr>
        <p:spPr>
          <a:xfrm>
            <a:off x="45783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2. Hướng</a:t>
            </a:r>
            <a:endParaRPr lang="en-US" sz="1500" dirty="0"/>
          </a:p>
        </p:txBody>
      </p:sp>
      <p:sp>
        <p:nvSpPr>
          <p:cNvPr id="8" name="Text 6"/>
          <p:cNvSpPr/>
          <p:nvPr/>
        </p:nvSpPr>
        <p:spPr>
          <a:xfrm>
            <a:off x="4578350" y="1883370"/>
            <a:ext cx="3126359"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Mục tiêu P* = (0.80, 0.80). Vector hướng của An = P* − P = (0.55, 0.55): cần tăng cả thói quen lẫn tự tin, mức tăng bằng nhau.</a:t>
            </a:r>
            <a:endParaRPr lang="en-US" sz="1200" dirty="0"/>
          </a:p>
        </p:txBody>
      </p:sp>
      <p:sp>
        <p:nvSpPr>
          <p:cNvPr id="9" name="Shape 7"/>
          <p:cNvSpPr/>
          <p:nvPr/>
        </p:nvSpPr>
        <p:spPr>
          <a:xfrm>
            <a:off x="7978775" y="1410295"/>
            <a:ext cx="3397250" cy="1682452"/>
          </a:xfrm>
          <a:prstGeom prst="roundRect">
            <a:avLst>
              <a:gd name="adj" fmla="val 5850"/>
            </a:avLst>
          </a:prstGeom>
          <a:solidFill>
            <a:srgbClr val="FFFFFF"/>
          </a:solidFill>
          <a:ln w="6350">
            <a:solidFill>
              <a:srgbClr val="DDD9CF"/>
            </a:solidFill>
            <a:prstDash val="solid"/>
          </a:ln>
        </p:spPr>
      </p:sp>
      <p:sp>
        <p:nvSpPr>
          <p:cNvPr id="10" name="Text 8"/>
          <p:cNvSpPr/>
          <p:nvPr/>
        </p:nvSpPr>
        <p:spPr>
          <a:xfrm>
            <a:off x="81597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3. Quỹ đạo</a:t>
            </a:r>
            <a:endParaRPr lang="en-US" sz="1500" dirty="0"/>
          </a:p>
        </p:txBody>
      </p:sp>
      <p:sp>
        <p:nvSpPr>
          <p:cNvPr id="11" name="Text 9"/>
          <p:cNvSpPr/>
          <p:nvPr/>
        </p:nvSpPr>
        <p:spPr>
          <a:xfrm>
            <a:off x="8159750" y="1883370"/>
            <a:ext cx="3126359" cy="105380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Tuần 0: (0.25, 0.25)</a:t>
            </a:r>
            <a:endParaRPr lang="en-US" sz="1200" dirty="0"/>
          </a:p>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Tuần 4: (0.45, 0.40)</a:t>
            </a:r>
            <a:endParaRPr lang="en-US" sz="1200" dirty="0"/>
          </a:p>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Tuần 8: (0.62, 0.55)</a:t>
            </a:r>
            <a:endParaRPr lang="en-US" sz="1200" dirty="0"/>
          </a:p>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Chuỗi điểm cho thấy người học đang đi đâu và nhanh đến mức nào.</a:t>
            </a:r>
            <a:endParaRPr lang="en-US" sz="1200" dirty="0"/>
          </a:p>
        </p:txBody>
      </p:sp>
      <p:sp>
        <p:nvSpPr>
          <p:cNvPr id="12" name="Shape 10"/>
          <p:cNvSpPr/>
          <p:nvPr/>
        </p:nvSpPr>
        <p:spPr>
          <a:xfrm>
            <a:off x="815975" y="3302298"/>
            <a:ext cx="10560050" cy="2536527"/>
          </a:xfrm>
          <a:prstGeom prst="roundRect">
            <a:avLst>
              <a:gd name="adj" fmla="val 3880"/>
            </a:avLst>
          </a:prstGeom>
          <a:solidFill>
            <a:srgbClr val="FFFFFF"/>
          </a:solidFill>
          <a:ln w="6350">
            <a:solidFill>
              <a:srgbClr val="DDD9CF"/>
            </a:solidFill>
            <a:prstDash val="solid"/>
          </a:ln>
        </p:spPr>
      </p:sp>
      <p:sp>
        <p:nvSpPr>
          <p:cNvPr id="13" name="Text 11"/>
          <p:cNvSpPr/>
          <p:nvPr/>
        </p:nvSpPr>
        <p:spPr>
          <a:xfrm>
            <a:off x="996950" y="3483273"/>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So với nhãn</a:t>
            </a:r>
            <a:endParaRPr lang="en-US" sz="1500" dirty="0"/>
          </a:p>
        </p:txBody>
      </p:sp>
      <p:sp>
        <p:nvSpPr>
          <p:cNvPr id="14" name="Text 12"/>
          <p:cNvSpPr/>
          <p:nvPr/>
        </p:nvSpPr>
        <p:spPr>
          <a:xfrm>
            <a:off x="996950" y="3775373"/>
            <a:ext cx="1050404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Nhãn "người học yếu" không có khoảng cách, không có hướng, không có quỹ đạo, nên không trả lời được câu hỏi "cần làm gì tiếp theo". Vector trả lời được, và mức không chắc chắn của câu trả lời cũng đo được.</a:t>
            </a:r>
            <a:endParaRPr lang="en-US" sz="1300" dirty="0"/>
          </a:p>
        </p:txBody>
      </p:sp>
      <p:sp>
        <p:nvSpPr>
          <p:cNvPr id="15" name="Text 13"/>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4/22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Persona trong Data Journey Map</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2941538"/>
        </p:xfrm>
        <a:graphic>
          <a:graphicData uri="http://schemas.openxmlformats.org/drawingml/2006/table">
            <a:tbl>
              <a:tblPr/>
              <a:tblGrid>
                <a:gridCol w="2638425"/>
                <a:gridCol w="2638425"/>
                <a:gridCol w="2638425"/>
                <a:gridCol w="2638425"/>
              </a:tblGrid>
              <a:tr h="370483">
                <a:tc>
                  <a:txBody>
                    <a:bodyPr/>
                    <a:lstStyle/>
                    <a:p>
                      <a:pPr indent="0" marL="0">
                        <a:lnSpc>
                          <a:spcPts val="1715"/>
                        </a:lnSpc>
                        <a:buNone/>
                      </a:pPr>
                      <a:r>
                        <a:rPr lang="en-US" sz="1225" b="1" dirty="0">
                          <a:solidFill>
                            <a:srgbClr val="0F8B8D"/>
                          </a:solidFill>
                          <a:latin typeface="Arial" pitchFamily="34" charset="0"/>
                          <a:ea typeface="Arial" pitchFamily="34" charset="-122"/>
                          <a:cs typeface="Arial" pitchFamily="34" charset="-120"/>
                        </a:rPr>
                        <a:t>Giai đoạn</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715"/>
                        </a:lnSpc>
                        <a:buNone/>
                      </a:pPr>
                      <a:r>
                        <a:rPr lang="en-US" sz="1225" b="1" dirty="0">
                          <a:solidFill>
                            <a:srgbClr val="0F8B8D"/>
                          </a:solidFill>
                          <a:latin typeface="Arial" pitchFamily="34" charset="0"/>
                          <a:ea typeface="Arial" pitchFamily="34" charset="-122"/>
                          <a:cs typeface="Arial" pitchFamily="34" charset="-120"/>
                        </a:rPr>
                        <a:t>Dữ liệu thu được</a:t>
                      </a:r>
                      <a:endParaRPr lang="en-US" sz="122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715"/>
                        </a:lnSpc>
                        <a:buNone/>
                      </a:pPr>
                      <a:r>
                        <a:rPr lang="en-US" sz="1225" b="1" dirty="0">
                          <a:solidFill>
                            <a:srgbClr val="0F8B8D"/>
                          </a:solidFill>
                          <a:latin typeface="Arial" pitchFamily="34" charset="0"/>
                          <a:ea typeface="Arial" pitchFamily="34" charset="-122"/>
                          <a:cs typeface="Arial" pitchFamily="34" charset="-120"/>
                        </a:rPr>
                        <a:t>Quyết định của người học</a:t>
                      </a:r>
                      <a:endParaRPr lang="en-US" sz="122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715"/>
                        </a:lnSpc>
                        <a:buNone/>
                      </a:pPr>
                      <a:r>
                        <a:rPr lang="en-US" sz="1225" b="1" dirty="0">
                          <a:solidFill>
                            <a:srgbClr val="0F8B8D"/>
                          </a:solidFill>
                          <a:latin typeface="Arial" pitchFamily="34" charset="0"/>
                          <a:ea typeface="Arial" pitchFamily="34" charset="-122"/>
                          <a:cs typeface="Arial" pitchFamily="34" charset="-120"/>
                        </a:rPr>
                        <a:t>Vector hỗ trợ</a:t>
                      </a:r>
                      <a:endParaRPr lang="en-US" sz="122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806053">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1. Chọn mục tiêu</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Mục tiêu đã chọn, khảo sát đầu vào</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Chọn mục tiêu P* (persona mong muốn) và đồng ý chia sẻ dữ liệu</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Ước lượng P (persona hiện tại), tính khoảng cách TG (Transformation Gap) tới P*</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8268">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2. Học hằng ngày</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Phiên học, số phút, kết quả bài kiểm tra ngắn</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Học hay nghỉ hôm nay, chọn nội dung nào</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Cập nhật P, chỉ ra chiều đang thấp</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8367">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3. Nhận gợi ý</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Gợi ý đã hiển thị, được nhận hay từ chối</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Nhận, từ chối hoặc đổi hoạt động</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Đề xuất hoạt động giúp giảm TG, học từ phản hồi</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88367">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4. Đạt mốc hoặc đổi hướng</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Kết quả thi thử, điểm PAS (Persona Alignment Score)</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Tiếp tục, đổi mục tiêu P* hoặc dừng</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715"/>
                        </a:lnSpc>
                        <a:buNone/>
                      </a:pPr>
                      <a:r>
                        <a:rPr lang="en-US" sz="1225" dirty="0">
                          <a:solidFill>
                            <a:srgbClr val="1B1F2A"/>
                          </a:solidFill>
                          <a:latin typeface="Arial" pitchFamily="34" charset="0"/>
                          <a:ea typeface="Arial" pitchFamily="34" charset="-122"/>
                          <a:cs typeface="Arial" pitchFamily="34" charset="-120"/>
                        </a:rPr>
                        <a:t>Cập nhật theo P* mới, không ép người học đi tiếp</a:t>
                      </a:r>
                      <a:endParaRPr lang="en-US" sz="122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Shape 1"/>
          <p:cNvSpPr/>
          <p:nvPr/>
        </p:nvSpPr>
        <p:spPr>
          <a:xfrm>
            <a:off x="815975" y="4567734"/>
            <a:ext cx="5187950" cy="1271091"/>
          </a:xfrm>
          <a:prstGeom prst="roundRect">
            <a:avLst>
              <a:gd name="adj" fmla="val 7743"/>
            </a:avLst>
          </a:prstGeom>
          <a:solidFill>
            <a:srgbClr val="FFFFFF"/>
          </a:solidFill>
          <a:ln w="6350">
            <a:solidFill>
              <a:srgbClr val="DDD9CF"/>
            </a:solidFill>
            <a:prstDash val="solid"/>
          </a:ln>
        </p:spPr>
      </p:sp>
      <p:sp>
        <p:nvSpPr>
          <p:cNvPr id="5" name="Text 2"/>
          <p:cNvSpPr/>
          <p:nvPr/>
        </p:nvSpPr>
        <p:spPr>
          <a:xfrm>
            <a:off x="996950" y="4748709"/>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Data Journey Map là gì</a:t>
            </a:r>
            <a:endParaRPr lang="en-US" sz="1500" dirty="0"/>
          </a:p>
        </p:txBody>
      </p:sp>
      <p:sp>
        <p:nvSpPr>
          <p:cNvPr id="6" name="Text 3"/>
          <p:cNvSpPr/>
          <p:nvPr/>
        </p:nvSpPr>
        <p:spPr>
          <a:xfrm>
            <a:off x="996950" y="5040809"/>
            <a:ext cx="49707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Bản đồ hành trình dữ liệu: các giai đoạn người học đi qua, dữ liệu thu được và quyết định cá nhân của họ ở mỗi giai đoạn. Persona là người học đang đi trên bản đồ đó.</a:t>
            </a:r>
            <a:endParaRPr lang="en-US" sz="1200" dirty="0"/>
          </a:p>
        </p:txBody>
      </p:sp>
      <p:sp>
        <p:nvSpPr>
          <p:cNvPr id="7" name="Shape 4"/>
          <p:cNvSpPr/>
          <p:nvPr/>
        </p:nvSpPr>
        <p:spPr>
          <a:xfrm>
            <a:off x="6188075" y="4567734"/>
            <a:ext cx="5187950" cy="1271091"/>
          </a:xfrm>
          <a:prstGeom prst="roundRect">
            <a:avLst>
              <a:gd name="adj" fmla="val 7743"/>
            </a:avLst>
          </a:prstGeom>
          <a:solidFill>
            <a:srgbClr val="FFFFFF"/>
          </a:solidFill>
          <a:ln w="6350">
            <a:solidFill>
              <a:srgbClr val="DDD9CF"/>
            </a:solidFill>
            <a:prstDash val="solid"/>
          </a:ln>
        </p:spPr>
      </p:sp>
      <p:sp>
        <p:nvSpPr>
          <p:cNvPr id="8" name="Text 5"/>
          <p:cNvSpPr/>
          <p:nvPr/>
        </p:nvSpPr>
        <p:spPr>
          <a:xfrm>
            <a:off x="6369050" y="4748709"/>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Vai trò của vector</a:t>
            </a:r>
            <a:endParaRPr lang="en-US" sz="1500" dirty="0"/>
          </a:p>
        </p:txBody>
      </p:sp>
      <p:sp>
        <p:nvSpPr>
          <p:cNvPr id="9" name="Text 6"/>
          <p:cNvSpPr/>
          <p:nvPr/>
        </p:nvSpPr>
        <p:spPr>
          <a:xfrm>
            <a:off x="6369050" y="5040809"/>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Vector P là la bàn, không phải tay lái: cho biết người học đang ở đâu và hướng tới P* thế nào. Mọi quyết định vẫn thuộc người học.</a:t>
            </a:r>
            <a:endParaRPr lang="en-US" sz="1200" dirty="0"/>
          </a:p>
        </p:txBody>
      </p:sp>
      <p:sp>
        <p:nvSpPr>
          <p:cNvPr id="10" name="Text 7"/>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5/22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Vì sao dùng vector để hỗ trợ persona đi đúng hướng</a:t>
            </a:r>
            <a:endParaRPr lang="en-US" sz="2800" dirty="0"/>
          </a:p>
        </p:txBody>
      </p:sp>
      <p:sp>
        <p:nvSpPr>
          <p:cNvPr id="3" name="Shape 1"/>
          <p:cNvSpPr/>
          <p:nvPr/>
        </p:nvSpPr>
        <p:spPr>
          <a:xfrm>
            <a:off x="815975" y="1410295"/>
            <a:ext cx="5524599" cy="2230834"/>
          </a:xfrm>
          <a:prstGeom prst="roundRect">
            <a:avLst>
              <a:gd name="adj" fmla="val 4412"/>
            </a:avLst>
          </a:prstGeom>
          <a:solidFill>
            <a:srgbClr val="FFFFFF"/>
          </a:solidFill>
          <a:ln w="6350">
            <a:solidFill>
              <a:srgbClr val="DDD9CF"/>
            </a:solidFill>
            <a:prstDash val="solid"/>
          </a:ln>
        </p:spPr>
      </p:sp>
      <p:sp>
        <p:nvSpPr>
          <p:cNvPr id="4" name="Text 2"/>
          <p:cNvSpPr/>
          <p:nvPr/>
        </p:nvSpPr>
        <p:spPr>
          <a:xfrm>
            <a:off x="996950" y="1591270"/>
            <a:ext cx="531752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Năm lý do</a:t>
            </a:r>
            <a:endParaRPr lang="en-US" sz="1500" dirty="0"/>
          </a:p>
        </p:txBody>
      </p:sp>
      <p:sp>
        <p:nvSpPr>
          <p:cNvPr id="5" name="Text 3"/>
          <p:cNvSpPr/>
          <p:nvPr/>
        </p:nvSpPr>
        <p:spPr>
          <a:xfrm>
            <a:off x="996950" y="1883370"/>
            <a:ext cx="5340449"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1. Cho biết vị trí</a:t>
            </a:r>
            <a:r>
              <a:rPr lang="en-US" sz="1200" dirty="0">
                <a:solidFill>
                  <a:srgbClr val="1B1F2A"/>
                </a:solidFill>
                <a:latin typeface="Arial" pitchFamily="34" charset="0"/>
                <a:ea typeface="Arial" pitchFamily="34" charset="-122"/>
                <a:cs typeface="Arial" pitchFamily="34" charset="-120"/>
              </a:rPr>
              <a:t>: P là điểm xuất phát đo được, thay cho cảm nhận mơ hồ</a:t>
            </a:r>
            <a:endParaRPr lang="en-US" sz="1200" dirty="0"/>
          </a:p>
        </p:txBody>
      </p:sp>
      <p:sp>
        <p:nvSpPr>
          <p:cNvPr id="6" name="Text 4"/>
          <p:cNvSpPr/>
          <p:nvPr/>
        </p:nvSpPr>
        <p:spPr>
          <a:xfrm>
            <a:off x="996950" y="2144911"/>
            <a:ext cx="5317529"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2. Cho biết hướng</a:t>
            </a:r>
            <a:r>
              <a:rPr lang="en-US" sz="1200" dirty="0">
                <a:solidFill>
                  <a:srgbClr val="1B1F2A"/>
                </a:solidFill>
                <a:latin typeface="Arial" pitchFamily="34" charset="0"/>
                <a:ea typeface="Arial" pitchFamily="34" charset="-122"/>
                <a:cs typeface="Arial" pitchFamily="34" charset="-120"/>
              </a:rPr>
              <a:t>: P* trừ P chỉ ra chiều nào cần cải thiện nhiều nhất</a:t>
            </a:r>
            <a:endParaRPr lang="en-US" sz="1200" dirty="0"/>
          </a:p>
        </p:txBody>
      </p:sp>
      <p:sp>
        <p:nvSpPr>
          <p:cNvPr id="7" name="Text 5"/>
          <p:cNvSpPr/>
          <p:nvPr/>
        </p:nvSpPr>
        <p:spPr>
          <a:xfrm>
            <a:off x="996950" y="2406452"/>
            <a:ext cx="5317529"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3. Tôn trọng quyết định</a:t>
            </a:r>
            <a:r>
              <a:rPr lang="en-US" sz="1200" dirty="0">
                <a:solidFill>
                  <a:srgbClr val="1B1F2A"/>
                </a:solidFill>
                <a:latin typeface="Arial" pitchFamily="34" charset="0"/>
                <a:ea typeface="Arial" pitchFamily="34" charset="-122"/>
                <a:cs typeface="Arial" pitchFamily="34" charset="-120"/>
              </a:rPr>
              <a:t>: P* do người học chọn; gợi ý có thể bị từ chối</a:t>
            </a:r>
            <a:endParaRPr lang="en-US" sz="1200" dirty="0"/>
          </a:p>
        </p:txBody>
      </p:sp>
      <p:sp>
        <p:nvSpPr>
          <p:cNvPr id="8" name="Text 6"/>
          <p:cNvSpPr/>
          <p:nvPr/>
        </p:nvSpPr>
        <p:spPr>
          <a:xfrm>
            <a:off x="996950" y="2667992"/>
            <a:ext cx="5317529"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4. Học từ mỗi quyết định</a:t>
            </a:r>
            <a:r>
              <a:rPr lang="en-US" sz="1200" dirty="0">
                <a:solidFill>
                  <a:srgbClr val="1B1F2A"/>
                </a:solidFill>
                <a:latin typeface="Arial" pitchFamily="34" charset="0"/>
                <a:ea typeface="Arial" pitchFamily="34" charset="-122"/>
                <a:cs typeface="Arial" pitchFamily="34" charset="-120"/>
              </a:rPr>
              <a:t>: nhận, từ chối hay đổi hướng đều thành dữ liệu để cập nhật P</a:t>
            </a:r>
            <a:endParaRPr lang="en-US" sz="1200" dirty="0"/>
          </a:p>
        </p:txBody>
      </p:sp>
      <p:sp>
        <p:nvSpPr>
          <p:cNvPr id="9" name="Text 7"/>
          <p:cNvSpPr/>
          <p:nvPr/>
        </p:nvSpPr>
        <p:spPr>
          <a:xfrm>
            <a:off x="996950" y="3127573"/>
            <a:ext cx="5340449"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5. Nói rõ độ chắc chắn</a:t>
            </a:r>
            <a:r>
              <a:rPr lang="en-US" sz="1200" dirty="0">
                <a:solidFill>
                  <a:srgbClr val="1B1F2A"/>
                </a:solidFill>
                <a:latin typeface="Arial" pitchFamily="34" charset="0"/>
                <a:ea typeface="Arial" pitchFamily="34" charset="-122"/>
                <a:cs typeface="Arial" pitchFamily="34" charset="-120"/>
              </a:rPr>
              <a:t>: S (bất định) cho biết ước lượng đáng tin đến đâu</a:t>
            </a:r>
            <a:endParaRPr lang="en-US" sz="1200" dirty="0"/>
          </a:p>
        </p:txBody>
      </p:sp>
      <p:sp>
        <p:nvSpPr>
          <p:cNvPr id="10" name="Shape 8"/>
          <p:cNvSpPr/>
          <p:nvPr/>
        </p:nvSpPr>
        <p:spPr>
          <a:xfrm>
            <a:off x="6524724" y="1410295"/>
            <a:ext cx="4851301" cy="2230834"/>
          </a:xfrm>
          <a:prstGeom prst="roundRect">
            <a:avLst>
              <a:gd name="adj" fmla="val 4412"/>
            </a:avLst>
          </a:prstGeom>
          <a:solidFill>
            <a:srgbClr val="FFFFFF"/>
          </a:solidFill>
          <a:ln w="6350">
            <a:solidFill>
              <a:srgbClr val="DDD9CF"/>
            </a:solidFill>
            <a:prstDash val="solid"/>
          </a:ln>
        </p:spPr>
      </p:sp>
      <p:sp>
        <p:nvSpPr>
          <p:cNvPr id="11" name="Text 9"/>
          <p:cNvSpPr/>
          <p:nvPr/>
        </p:nvSpPr>
        <p:spPr>
          <a:xfrm>
            <a:off x="6705699" y="1591270"/>
            <a:ext cx="46240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Giới hạn cần nói thật</a:t>
            </a:r>
            <a:endParaRPr lang="en-US" sz="1500" dirty="0"/>
          </a:p>
        </p:txBody>
      </p:sp>
      <p:sp>
        <p:nvSpPr>
          <p:cNvPr id="12" name="Text 10"/>
          <p:cNvSpPr/>
          <p:nvPr/>
        </p:nvSpPr>
        <p:spPr>
          <a:xfrm>
            <a:off x="6705699" y="1883370"/>
            <a:ext cx="4624031"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Bản đồ đơn giản hóa</a:t>
            </a:r>
            <a:r>
              <a:rPr lang="en-US" sz="1200" dirty="0">
                <a:solidFill>
                  <a:srgbClr val="1B1F2A"/>
                </a:solidFill>
                <a:latin typeface="Arial" pitchFamily="34" charset="0"/>
                <a:ea typeface="Arial" pitchFamily="34" charset="-122"/>
                <a:cs typeface="Arial" pitchFamily="34" charset="-120"/>
              </a:rPr>
              <a:t>: 7 chiều do người thiết kế chọn, bỏ sót nhiều thứ</a:t>
            </a:r>
            <a:endParaRPr lang="en-US" sz="1200" dirty="0"/>
          </a:p>
        </p:txBody>
      </p:sp>
      <p:sp>
        <p:nvSpPr>
          <p:cNvPr id="13" name="Text 11"/>
          <p:cNvSpPr/>
          <p:nvPr/>
        </p:nvSpPr>
        <p:spPr>
          <a:xfrm>
            <a:off x="6705699" y="2342952"/>
            <a:ext cx="4667151"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Hỗ trợ, không thay thế</a:t>
            </a:r>
            <a:r>
              <a:rPr lang="en-US" sz="1200" dirty="0">
                <a:solidFill>
                  <a:srgbClr val="1B1F2A"/>
                </a:solidFill>
                <a:latin typeface="Arial" pitchFamily="34" charset="0"/>
                <a:ea typeface="Arial" pitchFamily="34" charset="-122"/>
                <a:cs typeface="Arial" pitchFamily="34" charset="-120"/>
              </a:rPr>
              <a:t>: quyết định cuối cùng thuộc về người học</a:t>
            </a:r>
            <a:endParaRPr lang="en-US" sz="1200" dirty="0"/>
          </a:p>
        </p:txBody>
      </p:sp>
      <p:sp>
        <p:nvSpPr>
          <p:cNvPr id="14" name="Text 12"/>
          <p:cNvSpPr/>
          <p:nvPr/>
        </p:nvSpPr>
        <p:spPr>
          <a:xfrm>
            <a:off x="6705699" y="2604492"/>
            <a:ext cx="4624031"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Có thể bị lạm dụng</a:t>
            </a:r>
            <a:r>
              <a:rPr lang="en-US" sz="1200" dirty="0">
                <a:solidFill>
                  <a:srgbClr val="1B1F2A"/>
                </a:solidFill>
                <a:latin typeface="Arial" pitchFamily="34" charset="0"/>
                <a:ea typeface="Arial" pitchFamily="34" charset="-122"/>
                <a:cs typeface="Arial" pitchFamily="34" charset="-120"/>
              </a:rPr>
              <a:t>: dùng để thao túng là phản lại người học; cần chiều được bảo vệ và cổng kiểm soát</a:t>
            </a:r>
            <a:endParaRPr lang="en-US" sz="1200" dirty="0"/>
          </a:p>
        </p:txBody>
      </p:sp>
      <p:sp>
        <p:nvSpPr>
          <p:cNvPr id="15" name="Text 13"/>
          <p:cNvSpPr/>
          <p:nvPr/>
        </p:nvSpPr>
        <p:spPr>
          <a:xfrm>
            <a:off x="6705699" y="3064073"/>
            <a:ext cx="4624031"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Cần kiểm chứng</a:t>
            </a:r>
            <a:r>
              <a:rPr lang="en-US" sz="1200" dirty="0">
                <a:solidFill>
                  <a:srgbClr val="1B1F2A"/>
                </a:solidFill>
                <a:latin typeface="Arial" pitchFamily="34" charset="0"/>
                <a:ea typeface="Arial" pitchFamily="34" charset="-122"/>
                <a:cs typeface="Arial" pitchFamily="34" charset="-120"/>
              </a:rPr>
              <a:t>: kết quả trong bài là mô phỏng, chưa phải dữ liệu thật</a:t>
            </a:r>
            <a:endParaRPr lang="en-US" sz="1200" dirty="0"/>
          </a:p>
        </p:txBody>
      </p:sp>
      <p:sp>
        <p:nvSpPr>
          <p:cNvPr id="16" name="Text 14"/>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6/22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Vòng lặp của hệ thống</a:t>
            </a:r>
            <a:endParaRPr lang="en-US" sz="2800" dirty="0"/>
          </a:p>
        </p:txBody>
      </p:sp>
      <p:sp>
        <p:nvSpPr>
          <p:cNvPr id="3" name="Shape 1"/>
          <p:cNvSpPr/>
          <p:nvPr/>
        </p:nvSpPr>
        <p:spPr>
          <a:xfrm>
            <a:off x="815975" y="1410295"/>
            <a:ext cx="1964630" cy="1499691"/>
          </a:xfrm>
          <a:prstGeom prst="roundRect">
            <a:avLst>
              <a:gd name="adj" fmla="val 6563"/>
            </a:avLst>
          </a:prstGeom>
          <a:solidFill>
            <a:srgbClr val="FFFFFF"/>
          </a:solidFill>
          <a:ln w="6350">
            <a:solidFill>
              <a:srgbClr val="DDD9CF"/>
            </a:solidFill>
            <a:prstDash val="solid"/>
          </a:ln>
        </p:spPr>
      </p:sp>
      <p:sp>
        <p:nvSpPr>
          <p:cNvPr id="4" name="Text 2"/>
          <p:cNvSpPr/>
          <p:nvPr/>
        </p:nvSpPr>
        <p:spPr>
          <a:xfrm>
            <a:off x="996950" y="1591270"/>
            <a:ext cx="16534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1. Thu dữ liệu</a:t>
            </a:r>
            <a:endParaRPr lang="en-US" sz="1500" dirty="0"/>
          </a:p>
        </p:txBody>
      </p:sp>
      <p:sp>
        <p:nvSpPr>
          <p:cNvPr id="5" name="Text 3"/>
          <p:cNvSpPr/>
          <p:nvPr/>
        </p:nvSpPr>
        <p:spPr>
          <a:xfrm>
            <a:off x="996950" y="1883370"/>
            <a:ext cx="16534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Sự kiện học: phiên học, bài kiểm tra, bài nói (slide 11)</a:t>
            </a:r>
            <a:endParaRPr lang="en-US" sz="1200" dirty="0"/>
          </a:p>
        </p:txBody>
      </p:sp>
      <p:sp>
        <p:nvSpPr>
          <p:cNvPr id="6" name="Shape 4"/>
          <p:cNvSpPr/>
          <p:nvPr/>
        </p:nvSpPr>
        <p:spPr>
          <a:xfrm>
            <a:off x="2964755" y="1410295"/>
            <a:ext cx="1964730" cy="1499691"/>
          </a:xfrm>
          <a:prstGeom prst="roundRect">
            <a:avLst>
              <a:gd name="adj" fmla="val 6563"/>
            </a:avLst>
          </a:prstGeom>
          <a:solidFill>
            <a:srgbClr val="FFFFFF"/>
          </a:solidFill>
          <a:ln w="6350">
            <a:solidFill>
              <a:srgbClr val="DDD9CF"/>
            </a:solidFill>
            <a:prstDash val="solid"/>
          </a:ln>
        </p:spPr>
      </p:sp>
      <p:sp>
        <p:nvSpPr>
          <p:cNvPr id="7" name="Text 5"/>
          <p:cNvSpPr/>
          <p:nvPr/>
        </p:nvSpPr>
        <p:spPr>
          <a:xfrm>
            <a:off x="3145730" y="1591270"/>
            <a:ext cx="16535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2. Ước lượng P</a:t>
            </a:r>
            <a:endParaRPr lang="en-US" sz="1500" dirty="0"/>
          </a:p>
        </p:txBody>
      </p:sp>
      <p:sp>
        <p:nvSpPr>
          <p:cNvPr id="8" name="Text 6"/>
          <p:cNvSpPr/>
          <p:nvPr/>
        </p:nvSpPr>
        <p:spPr>
          <a:xfrm>
            <a:off x="3145730" y="1883370"/>
            <a:ext cx="16535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Lọc Kalman gộp nhiều phiên thành persona hiện tại (slide 12)</a:t>
            </a:r>
            <a:endParaRPr lang="en-US" sz="1200" dirty="0"/>
          </a:p>
        </p:txBody>
      </p:sp>
      <p:sp>
        <p:nvSpPr>
          <p:cNvPr id="9" name="Shape 7"/>
          <p:cNvSpPr/>
          <p:nvPr/>
        </p:nvSpPr>
        <p:spPr>
          <a:xfrm>
            <a:off x="5113635" y="1410295"/>
            <a:ext cx="1964630" cy="1499691"/>
          </a:xfrm>
          <a:prstGeom prst="roundRect">
            <a:avLst>
              <a:gd name="adj" fmla="val 6563"/>
            </a:avLst>
          </a:prstGeom>
          <a:solidFill>
            <a:srgbClr val="FFFFFF"/>
          </a:solidFill>
          <a:ln w="6350">
            <a:solidFill>
              <a:srgbClr val="DDD9CF"/>
            </a:solidFill>
            <a:prstDash val="solid"/>
          </a:ln>
        </p:spPr>
      </p:sp>
      <p:sp>
        <p:nvSpPr>
          <p:cNvPr id="10" name="Text 8"/>
          <p:cNvSpPr/>
          <p:nvPr/>
        </p:nvSpPr>
        <p:spPr>
          <a:xfrm>
            <a:off x="5294610" y="1591270"/>
            <a:ext cx="16534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3. So với P*</a:t>
            </a:r>
            <a:endParaRPr lang="en-US" sz="1500" dirty="0"/>
          </a:p>
        </p:txBody>
      </p:sp>
      <p:sp>
        <p:nvSpPr>
          <p:cNvPr id="11" name="Text 9"/>
          <p:cNvSpPr/>
          <p:nvPr/>
        </p:nvSpPr>
        <p:spPr>
          <a:xfrm>
            <a:off x="5294610" y="1883370"/>
            <a:ext cx="16534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Tính khoảng cách TG và điểm PAS (slide 10)</a:t>
            </a:r>
            <a:endParaRPr lang="en-US" sz="1200" dirty="0"/>
          </a:p>
        </p:txBody>
      </p:sp>
      <p:sp>
        <p:nvSpPr>
          <p:cNvPr id="12" name="Shape 10"/>
          <p:cNvSpPr/>
          <p:nvPr/>
        </p:nvSpPr>
        <p:spPr>
          <a:xfrm>
            <a:off x="7262416" y="1410295"/>
            <a:ext cx="1964730" cy="1499691"/>
          </a:xfrm>
          <a:prstGeom prst="roundRect">
            <a:avLst>
              <a:gd name="adj" fmla="val 6563"/>
            </a:avLst>
          </a:prstGeom>
          <a:solidFill>
            <a:srgbClr val="FFFFFF"/>
          </a:solidFill>
          <a:ln w="6350">
            <a:solidFill>
              <a:srgbClr val="DDD9CF"/>
            </a:solidFill>
            <a:prstDash val="solid"/>
          </a:ln>
        </p:spPr>
      </p:sp>
      <p:sp>
        <p:nvSpPr>
          <p:cNvPr id="13" name="Text 11"/>
          <p:cNvSpPr/>
          <p:nvPr/>
        </p:nvSpPr>
        <p:spPr>
          <a:xfrm>
            <a:off x="7443391" y="1591270"/>
            <a:ext cx="16535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4. Đề xuất</a:t>
            </a:r>
            <a:endParaRPr lang="en-US" sz="1500" dirty="0"/>
          </a:p>
        </p:txBody>
      </p:sp>
      <p:sp>
        <p:nvSpPr>
          <p:cNvPr id="14" name="Text 12"/>
          <p:cNvSpPr/>
          <p:nvPr/>
        </p:nvSpPr>
        <p:spPr>
          <a:xfrm>
            <a:off x="7443391" y="1883370"/>
            <a:ext cx="16535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Chọn hoạt động giúp giảm TG, qua cổng kiểm soát (slide 14, 15)</a:t>
            </a:r>
            <a:endParaRPr lang="en-US" sz="1200" dirty="0"/>
          </a:p>
        </p:txBody>
      </p:sp>
      <p:sp>
        <p:nvSpPr>
          <p:cNvPr id="15" name="Shape 13"/>
          <p:cNvSpPr/>
          <p:nvPr/>
        </p:nvSpPr>
        <p:spPr>
          <a:xfrm>
            <a:off x="9411295" y="1410295"/>
            <a:ext cx="1964730" cy="1499691"/>
          </a:xfrm>
          <a:prstGeom prst="roundRect">
            <a:avLst>
              <a:gd name="adj" fmla="val 6563"/>
            </a:avLst>
          </a:prstGeom>
          <a:solidFill>
            <a:srgbClr val="FFFFFF"/>
          </a:solidFill>
          <a:ln w="6350">
            <a:solidFill>
              <a:srgbClr val="DDD9CF"/>
            </a:solidFill>
            <a:prstDash val="solid"/>
          </a:ln>
        </p:spPr>
      </p:sp>
      <p:sp>
        <p:nvSpPr>
          <p:cNvPr id="16" name="Text 14"/>
          <p:cNvSpPr/>
          <p:nvPr/>
        </p:nvSpPr>
        <p:spPr>
          <a:xfrm>
            <a:off x="9592270" y="1591270"/>
            <a:ext cx="165358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5. Người học quyết định</a:t>
            </a:r>
            <a:endParaRPr lang="en-US" sz="1500" dirty="0"/>
          </a:p>
        </p:txBody>
      </p:sp>
      <p:sp>
        <p:nvSpPr>
          <p:cNvPr id="17" name="Text 15"/>
          <p:cNvSpPr/>
          <p:nvPr/>
        </p:nvSpPr>
        <p:spPr>
          <a:xfrm>
            <a:off x="9592270" y="2111970"/>
            <a:ext cx="16535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Nhận, từ chối hoặc đổi mục tiêu; kết quả quay lại bước 1</a:t>
            </a:r>
            <a:endParaRPr lang="en-US" sz="1200" dirty="0"/>
          </a:p>
        </p:txBody>
      </p:sp>
      <p:sp>
        <p:nvSpPr>
          <p:cNvPr id="18" name="Shape 16"/>
          <p:cNvSpPr/>
          <p:nvPr/>
        </p:nvSpPr>
        <p:spPr>
          <a:xfrm>
            <a:off x="815975" y="3119537"/>
            <a:ext cx="10560050" cy="2719288"/>
          </a:xfrm>
          <a:prstGeom prst="roundRect">
            <a:avLst>
              <a:gd name="adj" fmla="val 3620"/>
            </a:avLst>
          </a:prstGeom>
          <a:solidFill>
            <a:srgbClr val="FFFFFF"/>
          </a:solidFill>
          <a:ln w="6350">
            <a:solidFill>
              <a:srgbClr val="DDD9CF"/>
            </a:solidFill>
            <a:prstDash val="solid"/>
          </a:ln>
        </p:spPr>
      </p:sp>
      <p:sp>
        <p:nvSpPr>
          <p:cNvPr id="19" name="Text 17"/>
          <p:cNvSpPr/>
          <p:nvPr/>
        </p:nvSpPr>
        <p:spPr>
          <a:xfrm>
            <a:off x="996950" y="3300512"/>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Nguyên tắc</a:t>
            </a:r>
            <a:endParaRPr lang="en-US" sz="1500" dirty="0"/>
          </a:p>
        </p:txBody>
      </p:sp>
      <p:sp>
        <p:nvSpPr>
          <p:cNvPr id="20" name="Text 18"/>
          <p:cNvSpPr/>
          <p:nvPr/>
        </p:nvSpPr>
        <p:spPr>
          <a:xfrm>
            <a:off x="996950" y="3592612"/>
            <a:ext cx="1050404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Quyết định thuộc về người học ở bước 5. Hệ thống chỉ ước lượng, so sánh và đề xuất; nó không tự ra quyết định thay người học.</a:t>
            </a:r>
            <a:endParaRPr lang="en-US" sz="1300" dirty="0"/>
          </a:p>
        </p:txBody>
      </p:sp>
      <p:sp>
        <p:nvSpPr>
          <p:cNvPr id="21" name="Text 19"/>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7/22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Bảy chiều của vector persona</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3996134"/>
        </p:xfrm>
        <a:graphic>
          <a:graphicData uri="http://schemas.openxmlformats.org/drawingml/2006/table">
            <a:tbl>
              <a:tblPr/>
              <a:tblGrid>
                <a:gridCol w="3517900"/>
                <a:gridCol w="3517900"/>
                <a:gridCol w="3517900"/>
              </a:tblGrid>
              <a:tr h="430113">
                <a:tc>
                  <a:txBody>
                    <a:bodyPr/>
                    <a:lstStyle/>
                    <a:p>
                      <a:pPr indent="0" marL="0">
                        <a:lnSpc>
                          <a:spcPts val="2184"/>
                        </a:lnSpc>
                        <a:buNone/>
                      </a:pPr>
                      <a:r>
                        <a:rPr lang="en-US" sz="1560" b="1" dirty="0">
                          <a:solidFill>
                            <a:srgbClr val="0F8B8D"/>
                          </a:solidFill>
                          <a:latin typeface="Arial" pitchFamily="34" charset="0"/>
                          <a:ea typeface="Arial" pitchFamily="34" charset="-122"/>
                          <a:cs typeface="Arial" pitchFamily="34" charset="-120"/>
                        </a:rPr>
                        <a:t>Ký hiệu và tên đầy đủ</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184"/>
                        </a:lnSpc>
                        <a:buNone/>
                      </a:pPr>
                      <a:r>
                        <a:rPr lang="en-US" sz="1560" b="1" dirty="0">
                          <a:solidFill>
                            <a:srgbClr val="0F8B8D"/>
                          </a:solidFill>
                          <a:latin typeface="Arial" pitchFamily="34" charset="0"/>
                          <a:ea typeface="Arial" pitchFamily="34" charset="-122"/>
                          <a:cs typeface="Arial" pitchFamily="34" charset="-120"/>
                        </a:rPr>
                        <a:t>Ý nghĩa</a:t>
                      </a:r>
                      <a:endParaRPr lang="en-US" sz="15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184"/>
                        </a:lnSpc>
                        <a:buNone/>
                      </a:pPr>
                      <a:r>
                        <a:rPr lang="en-US" sz="1560" b="1" dirty="0">
                          <a:solidFill>
                            <a:srgbClr val="0F8B8D"/>
                          </a:solidFill>
                          <a:latin typeface="Arial" pitchFamily="34" charset="0"/>
                          <a:ea typeface="Arial" pitchFamily="34" charset="-122"/>
                          <a:cs typeface="Arial" pitchFamily="34" charset="-120"/>
                        </a:rPr>
                        <a:t>Đo từ dữ liệu nào</a:t>
                      </a:r>
                      <a:endParaRPr lang="en-US" sz="15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707430">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V: Values (động lực)</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Mức phù hợp giữa việc học và mục tiêu</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Tỷ lệ chọn nội dung đúng mục tiêu</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0213">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B: Behavior (thói quen)</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Học có đều đặn không</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Tỷ lệ ngày có học trong 7 ngày</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07529">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N: Need fulfillment (kỹ năng)</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Nhu cầu kỹ năng được đáp ứng đến đâu</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Tỷ lệ đúng trong bài kiểm tra ngắn</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0213">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I: Intent (ý định)</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Có ý định luyện tập, luyện thi</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Số bài luyện thi đã hoàn thành</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0213">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E: Emotional confidence (tự tin)</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Tự tin khi dùng tiếng Anh</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Số bài nói đã hoàn thành</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0213">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A: Aspiration (mục tiêu rõ)</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Mục tiêu học có rõ ràng không</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Chấp nhận gợi ý lập kế hoạch</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0213">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R: Relational support (hỗ trợ xã hội)</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Có bạn học, nhóm, cộng đồng</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184"/>
                        </a:lnSpc>
                        <a:buNone/>
                      </a:pPr>
                      <a:r>
                        <a:rPr lang="en-US" sz="1560" dirty="0">
                          <a:solidFill>
                            <a:srgbClr val="1B1F2A"/>
                          </a:solidFill>
                          <a:latin typeface="Arial" pitchFamily="34" charset="0"/>
                          <a:ea typeface="Arial" pitchFamily="34" charset="-122"/>
                          <a:cs typeface="Arial" pitchFamily="34" charset="-120"/>
                        </a:rPr>
                        <a:t>Tương tác nhóm và cộng đồng</a:t>
                      </a:r>
                      <a:endParaRPr lang="en-US" sz="15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619155"/>
            <a:ext cx="108833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Quy ước: mọi chiều nằm trong [0, 1]; giá trị càng cao càng gần trạng thái người học mong muốn.</a:t>
            </a:r>
            <a:endParaRPr lang="en-US" sz="1300" dirty="0"/>
          </a:p>
        </p:txBody>
      </p:sp>
      <p:sp>
        <p:nvSpPr>
          <p:cNvPr id="5" name="Text 2"/>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8/22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36550"/>
          </a:xfrm>
          <a:prstGeom prst="rect">
            <a:avLst/>
          </a:prstGeom>
          <a:noFill/>
          <a:ln/>
        </p:spPr>
        <p:txBody>
          <a:bodyPr wrap="square" lIns="0" tIns="0" rIns="0" bIns="0" rtlCol="0" anchor="t">
            <a:normAutofit/>
          </a:bodyPr>
          <a:lstStyle/>
          <a:p>
            <a:pPr algn="l" indent="0" marL="0">
              <a:lnSpc>
                <a:spcPts val="2474"/>
              </a:lnSpc>
              <a:buNone/>
            </a:pPr>
            <a:r>
              <a:rPr lang="en-US" sz="2249" b="1" i="0" dirty="0">
                <a:solidFill>
                  <a:srgbClr val="1B1F2A"/>
                </a:solidFill>
                <a:latin typeface="Georgia" pitchFamily="18" charset="0"/>
                <a:ea typeface="Georgia" pitchFamily="18" charset="-122"/>
                <a:cs typeface="Georgia" pitchFamily="18" charset="-120"/>
              </a:rPr>
              <a:t>Ví dụ: persona hiện tại P và persona mong muốn P*</a:t>
            </a:r>
            <a:endParaRPr lang="en-US" sz="2249"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339850"/>
          <a:ext cx="5999460" cy="4135438"/>
        </p:xfrm>
        <a:graphic>
          <a:graphicData uri="http://schemas.openxmlformats.org/drawingml/2006/table">
            <a:tbl>
              <a:tblPr/>
              <a:tblGrid>
                <a:gridCol w="1499865"/>
                <a:gridCol w="1499865"/>
                <a:gridCol w="1499865"/>
                <a:gridCol w="1499865"/>
              </a:tblGrid>
              <a:tr h="679648">
                <a:tc>
                  <a:txBody>
                    <a:bodyPr/>
                    <a:lstStyle/>
                    <a:p>
                      <a:pPr indent="0" marL="0">
                        <a:lnSpc>
                          <a:spcPts val="2051"/>
                        </a:lnSpc>
                        <a:buNone/>
                      </a:pPr>
                      <a:r>
                        <a:rPr lang="en-US" sz="1465" b="1" dirty="0">
                          <a:solidFill>
                            <a:srgbClr val="0F8B8D"/>
                          </a:solidFill>
                          <a:latin typeface="Arial" pitchFamily="34" charset="0"/>
                          <a:ea typeface="Arial" pitchFamily="34" charset="-122"/>
                          <a:cs typeface="Arial" pitchFamily="34" charset="-120"/>
                        </a:rPr>
                        <a:t>Chiều</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051"/>
                        </a:lnSpc>
                        <a:buNone/>
                      </a:pPr>
                      <a:r>
                        <a:rPr lang="en-US" sz="1465" b="1" dirty="0">
                          <a:solidFill>
                            <a:srgbClr val="0F8B8D"/>
                          </a:solidFill>
                          <a:latin typeface="Arial" pitchFamily="34" charset="0"/>
                          <a:ea typeface="Arial" pitchFamily="34" charset="-122"/>
                          <a:cs typeface="Arial" pitchFamily="34" charset="-120"/>
                        </a:rPr>
                        <a:t>P (hiện tại)</a:t>
                      </a:r>
                      <a:endParaRPr lang="en-US" sz="146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051"/>
                        </a:lnSpc>
                        <a:buNone/>
                      </a:pPr>
                      <a:r>
                        <a:rPr lang="en-US" sz="1465" b="1" dirty="0">
                          <a:solidFill>
                            <a:srgbClr val="0F8B8D"/>
                          </a:solidFill>
                          <a:latin typeface="Arial" pitchFamily="34" charset="0"/>
                          <a:ea typeface="Arial" pitchFamily="34" charset="-122"/>
                          <a:cs typeface="Arial" pitchFamily="34" charset="-120"/>
                        </a:rPr>
                        <a:t>P* (mong muốn)</a:t>
                      </a:r>
                      <a:endParaRPr lang="en-US" sz="146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051"/>
                        </a:lnSpc>
                        <a:buNone/>
                      </a:pPr>
                      <a:r>
                        <a:rPr lang="en-US" sz="1465" b="1" dirty="0">
                          <a:solidFill>
                            <a:srgbClr val="0F8B8D"/>
                          </a:solidFill>
                          <a:latin typeface="Arial" pitchFamily="34" charset="0"/>
                          <a:ea typeface="Arial" pitchFamily="34" charset="-122"/>
                          <a:cs typeface="Arial" pitchFamily="34" charset="-120"/>
                        </a:rPr>
                        <a:t>Khoảng cách</a:t>
                      </a:r>
                      <a:endParaRPr lang="en-US" sz="1465"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67964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V: động lực (được bảo vệ)</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0.50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0.75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0.25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9199">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B: thói quen</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0.25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0.80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0.55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929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N: kỹ năng</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0.30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0.75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0.45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929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I: ý định</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0.45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0.80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0.35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67974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E: tự tin (được bảo vệ)</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0.25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0.85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0.60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929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A: mục tiêu rõ</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0.75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0.85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0.10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19298">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R: hỗ trợ xã hội</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0.35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0.60</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051"/>
                        </a:lnSpc>
                        <a:buNone/>
                      </a:pPr>
                      <a:r>
                        <a:rPr lang="en-US" sz="1465" dirty="0">
                          <a:solidFill>
                            <a:srgbClr val="1B1F2A"/>
                          </a:solidFill>
                          <a:latin typeface="Arial" pitchFamily="34" charset="0"/>
                          <a:ea typeface="Arial" pitchFamily="34" charset="-122"/>
                          <a:cs typeface="Arial" pitchFamily="34" charset="-120"/>
                        </a:rPr>
                        <a:t>0.25</a:t>
                      </a:r>
                      <a:endParaRPr lang="en-US" sz="1465"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Shape 1"/>
          <p:cNvSpPr/>
          <p:nvPr/>
        </p:nvSpPr>
        <p:spPr>
          <a:xfrm>
            <a:off x="7005935" y="1330325"/>
            <a:ext cx="4370090" cy="4141788"/>
          </a:xfrm>
          <a:prstGeom prst="roundRect">
            <a:avLst>
              <a:gd name="adj" fmla="val 2376"/>
            </a:avLst>
          </a:prstGeom>
          <a:solidFill>
            <a:srgbClr val="FFFFFF"/>
          </a:solidFill>
          <a:ln w="6350">
            <a:solidFill>
              <a:srgbClr val="DDD9CF"/>
            </a:solidFill>
            <a:prstDash val="solid"/>
          </a:ln>
        </p:spPr>
      </p:sp>
      <p:sp>
        <p:nvSpPr>
          <p:cNvPr id="5" name="Text 2"/>
          <p:cNvSpPr/>
          <p:nvPr/>
        </p:nvSpPr>
        <p:spPr>
          <a:xfrm>
            <a:off x="7186910" y="1511300"/>
            <a:ext cx="41283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6" name="Text 3"/>
          <p:cNvSpPr/>
          <p:nvPr/>
        </p:nvSpPr>
        <p:spPr>
          <a:xfrm>
            <a:off x="7186910" y="1803400"/>
            <a:ext cx="4128384"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a:t>
            </a:r>
            <a:r>
              <a:rPr lang="en-US" sz="1200" dirty="0">
                <a:solidFill>
                  <a:srgbClr val="1B1F2A"/>
                </a:solidFill>
                <a:latin typeface="Arial" pitchFamily="34" charset="0"/>
                <a:ea typeface="Arial" pitchFamily="34" charset="-122"/>
                <a:cs typeface="Arial" pitchFamily="34" charset="-120"/>
              </a:rPr>
              <a:t>: vector persona hiện tại, ước lượng từ dữ liệu học</a:t>
            </a:r>
            <a:endParaRPr lang="en-US" sz="1200" dirty="0"/>
          </a:p>
        </p:txBody>
      </p:sp>
      <p:sp>
        <p:nvSpPr>
          <p:cNvPr id="7" name="Text 4"/>
          <p:cNvSpPr/>
          <p:nvPr/>
        </p:nvSpPr>
        <p:spPr>
          <a:xfrm>
            <a:off x="7186910" y="2064941"/>
            <a:ext cx="4128384"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a:t>
            </a:r>
            <a:r>
              <a:rPr lang="en-US" sz="1200" dirty="0">
                <a:solidFill>
                  <a:srgbClr val="1B1F2A"/>
                </a:solidFill>
                <a:latin typeface="Arial" pitchFamily="34" charset="0"/>
                <a:ea typeface="Arial" pitchFamily="34" charset="-122"/>
                <a:cs typeface="Arial" pitchFamily="34" charset="-120"/>
              </a:rPr>
              <a:t>: persona mong muốn: người học tự chọn mục tiêu (ví dụ Business English) và xác nhận</a:t>
            </a:r>
            <a:endParaRPr lang="en-US" sz="1200" dirty="0"/>
          </a:p>
        </p:txBody>
      </p:sp>
      <p:sp>
        <p:nvSpPr>
          <p:cNvPr id="8" name="Text 5"/>
          <p:cNvSpPr/>
          <p:nvPr/>
        </p:nvSpPr>
        <p:spPr>
          <a:xfrm>
            <a:off x="7186910" y="2524522"/>
            <a:ext cx="4128384"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Khoảng cách</a:t>
            </a:r>
            <a:r>
              <a:rPr lang="en-US" sz="1200" dirty="0">
                <a:solidFill>
                  <a:srgbClr val="1B1F2A"/>
                </a:solidFill>
                <a:latin typeface="Arial" pitchFamily="34" charset="0"/>
                <a:ea typeface="Arial" pitchFamily="34" charset="-122"/>
                <a:cs typeface="Arial" pitchFamily="34" charset="-120"/>
              </a:rPr>
              <a:t>: P* trừ P trên từng chiều</a:t>
            </a:r>
            <a:endParaRPr lang="en-US" sz="1200" dirty="0"/>
          </a:p>
        </p:txBody>
      </p:sp>
      <p:sp>
        <p:nvSpPr>
          <p:cNvPr id="9" name="Text 6"/>
          <p:cNvSpPr/>
          <p:nvPr/>
        </p:nvSpPr>
        <p:spPr>
          <a:xfrm>
            <a:off x="7186910" y="2786063"/>
            <a:ext cx="4128384"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Được bảo vệ</a:t>
            </a:r>
            <a:r>
              <a:rPr lang="en-US" sz="1200" dirty="0">
                <a:solidFill>
                  <a:srgbClr val="1B1F2A"/>
                </a:solidFill>
                <a:latin typeface="Arial" pitchFamily="34" charset="0"/>
                <a:ea typeface="Arial" pitchFamily="34" charset="-122"/>
                <a:cs typeface="Arial" pitchFamily="34" charset="-120"/>
              </a:rPr>
              <a:t>: chiều V và E không bị can thiệp trực tiếp (slide 15)</a:t>
            </a:r>
            <a:endParaRPr lang="en-US" sz="1200" dirty="0"/>
          </a:p>
        </p:txBody>
      </p:sp>
      <p:sp>
        <p:nvSpPr>
          <p:cNvPr id="10" name="Text 7"/>
          <p:cNvSpPr/>
          <p:nvPr/>
        </p:nvSpPr>
        <p:spPr>
          <a:xfrm>
            <a:off x="812800" y="5678488"/>
            <a:ext cx="10883392" cy="188913"/>
          </a:xfrm>
          <a:prstGeom prst="rect">
            <a:avLst/>
          </a:prstGeom>
          <a:noFill/>
          <a:ln/>
        </p:spPr>
        <p:txBody>
          <a:bodyPr wrap="square" lIns="0" tIns="0" rIns="0" bIns="0" rtlCol="0" anchor="t">
            <a:normAutofit/>
          </a:bodyPr>
          <a:lstStyle/>
          <a:p>
            <a:pPr algn="l" indent="0" marL="0">
              <a:lnSpc>
                <a:spcPts val="1321"/>
              </a:lnSpc>
              <a:buNone/>
            </a:pPr>
            <a:r>
              <a:rPr lang="en-US" sz="979" dirty="0">
                <a:solidFill>
                  <a:srgbClr val="1B1F2A"/>
                </a:solidFill>
                <a:latin typeface="Arial" pitchFamily="34" charset="0"/>
                <a:ea typeface="Arial" pitchFamily="34" charset="-122"/>
                <a:cs typeface="Arial" pitchFamily="34" charset="-120"/>
              </a:rPr>
              <a:t>Số liệu minh họa cho một người học hư cấu.</a:t>
            </a:r>
            <a:endParaRPr lang="en-US" sz="979" dirty="0"/>
          </a:p>
        </p:txBody>
      </p:sp>
      <p:sp>
        <p:nvSpPr>
          <p:cNvPr id="11" name="Text 8"/>
          <p:cNvSpPr/>
          <p:nvPr/>
        </p:nvSpPr>
        <p:spPr>
          <a:xfrm>
            <a:off x="812800" y="6238280"/>
            <a:ext cx="2152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9/22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Đo khoảng cách: TG và PAS</a:t>
            </a:r>
            <a:endParaRPr lang="en-US" sz="2800" dirty="0"/>
          </a:p>
        </p:txBody>
      </p:sp>
      <p:sp>
        <p:nvSpPr>
          <p:cNvPr id="3" name="Shape 1"/>
          <p:cNvSpPr/>
          <p:nvPr/>
        </p:nvSpPr>
        <p:spPr>
          <a:xfrm>
            <a:off x="812800" y="1407120"/>
            <a:ext cx="5248771" cy="1297583"/>
          </a:xfrm>
          <a:prstGeom prst="roundRect">
            <a:avLst>
              <a:gd name="adj" fmla="val 7830"/>
            </a:avLst>
          </a:prstGeom>
          <a:solidFill>
            <a:srgbClr val="1B1F2A"/>
          </a:solidFill>
          <a:ln/>
        </p:spPr>
      </p:sp>
      <p:sp>
        <p:nvSpPr>
          <p:cNvPr id="4" name="Text 2"/>
          <p:cNvSpPr/>
          <p:nvPr/>
        </p:nvSpPr>
        <p:spPr>
          <a:xfrm>
            <a:off x="990600" y="1584920"/>
            <a:ext cx="503996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8E6DF"/>
                </a:solidFill>
                <a:latin typeface="Courier New" pitchFamily="49" charset="0"/>
                <a:ea typeface="Courier New" pitchFamily="49" charset="-122"/>
                <a:cs typeface="Courier New" pitchFamily="49" charset="-120"/>
              </a:rPr>
              <a:t>CTRL = [0,1,1,1,0,1,1]</a:t>
            </a:r>
            <a:endParaRPr lang="en-US" sz="1200" dirty="0"/>
          </a:p>
        </p:txBody>
      </p:sp>
      <p:sp>
        <p:nvSpPr>
          <p:cNvPr id="5" name="Text 3"/>
          <p:cNvSpPr/>
          <p:nvPr/>
        </p:nvSpPr>
        <p:spPr>
          <a:xfrm>
            <a:off x="990600" y="1813520"/>
            <a:ext cx="503996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8E6DF"/>
                </a:solidFill>
                <a:latin typeface="Courier New" pitchFamily="49" charset="0"/>
                <a:ea typeface="Courier New" pitchFamily="49" charset="-122"/>
                <a:cs typeface="Courier New" pitchFamily="49" charset="-120"/>
              </a:rPr>
              <a:t>gap  = (Pd - P) * CTRL</a:t>
            </a:r>
            <a:endParaRPr lang="en-US" sz="1200" dirty="0"/>
          </a:p>
        </p:txBody>
      </p:sp>
      <p:sp>
        <p:nvSpPr>
          <p:cNvPr id="6" name="Text 4"/>
          <p:cNvSpPr/>
          <p:nvPr/>
        </p:nvSpPr>
        <p:spPr>
          <a:xfrm>
            <a:off x="990600" y="2042120"/>
            <a:ext cx="503996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8E6DF"/>
                </a:solidFill>
                <a:latin typeface="Courier New" pitchFamily="49" charset="0"/>
                <a:ea typeface="Courier New" pitchFamily="49" charset="-122"/>
                <a:cs typeface="Courier New" pitchFamily="49" charset="-120"/>
              </a:rPr>
              <a:t>TG   = np.sqrt((gap**2).sum())</a:t>
            </a:r>
            <a:endParaRPr lang="en-US" sz="1200" dirty="0"/>
          </a:p>
        </p:txBody>
      </p:sp>
      <p:sp>
        <p:nvSpPr>
          <p:cNvPr id="7" name="Text 5"/>
          <p:cNvSpPr/>
          <p:nvPr/>
        </p:nvSpPr>
        <p:spPr>
          <a:xfrm>
            <a:off x="990600" y="2270720"/>
            <a:ext cx="503996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8E6DF"/>
                </a:solidFill>
                <a:latin typeface="Courier New" pitchFamily="49" charset="0"/>
                <a:ea typeface="Courier New" pitchFamily="49" charset="-122"/>
                <a:cs typeface="Courier New" pitchFamily="49" charset="-120"/>
              </a:rPr>
              <a:t>PAS  = 1 - TG / np.sqrt(CTRL.sum())</a:t>
            </a:r>
            <a:endParaRPr lang="en-US" sz="1200" dirty="0"/>
          </a:p>
        </p:txBody>
      </p:sp>
      <p:sp>
        <p:nvSpPr>
          <p:cNvPr id="8" name="Shape 6"/>
          <p:cNvSpPr/>
          <p:nvPr/>
        </p:nvSpPr>
        <p:spPr>
          <a:xfrm>
            <a:off x="815975" y="2860278"/>
            <a:ext cx="5242421" cy="1303933"/>
          </a:xfrm>
          <a:prstGeom prst="roundRect">
            <a:avLst>
              <a:gd name="adj" fmla="val 7548"/>
            </a:avLst>
          </a:prstGeom>
          <a:solidFill>
            <a:srgbClr val="FFFFFF"/>
          </a:solidFill>
          <a:ln w="6350">
            <a:solidFill>
              <a:srgbClr val="DDD9CF"/>
            </a:solidFill>
            <a:prstDash val="solid"/>
          </a:ln>
        </p:spPr>
      </p:sp>
      <p:sp>
        <p:nvSpPr>
          <p:cNvPr id="9" name="Text 7"/>
          <p:cNvSpPr/>
          <p:nvPr/>
        </p:nvSpPr>
        <p:spPr>
          <a:xfrm>
            <a:off x="996950" y="3041253"/>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Tính cho ví dụ slide 9</a:t>
            </a:r>
            <a:endParaRPr lang="en-US" sz="1500" dirty="0"/>
          </a:p>
        </p:txBody>
      </p:sp>
      <p:sp>
        <p:nvSpPr>
          <p:cNvPr id="10" name="Text 8"/>
          <p:cNvSpPr/>
          <p:nvPr/>
        </p:nvSpPr>
        <p:spPr>
          <a:xfrm>
            <a:off x="996950" y="3333353"/>
            <a:ext cx="502688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TG = √(0.55² + 0.45² + 0.35² + 0.10² + 0.25²) ≈ 0.837</a:t>
            </a:r>
            <a:endParaRPr lang="en-US" sz="1300" dirty="0"/>
          </a:p>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PAS = 1 − 0.837 / 2.236 ≈ 0.626</a:t>
            </a:r>
            <a:endParaRPr lang="en-US" sz="1300" dirty="0"/>
          </a:p>
        </p:txBody>
      </p:sp>
      <p:sp>
        <p:nvSpPr>
          <p:cNvPr id="11" name="Shape 9"/>
          <p:cNvSpPr/>
          <p:nvPr/>
        </p:nvSpPr>
        <p:spPr>
          <a:xfrm>
            <a:off x="6242546" y="1410295"/>
            <a:ext cx="5133479" cy="2753916"/>
          </a:xfrm>
          <a:prstGeom prst="roundRect">
            <a:avLst>
              <a:gd name="adj" fmla="val 3574"/>
            </a:avLst>
          </a:prstGeom>
          <a:solidFill>
            <a:srgbClr val="FFFFFF"/>
          </a:solidFill>
          <a:ln w="6350">
            <a:solidFill>
              <a:srgbClr val="DDD9CF"/>
            </a:solidFill>
            <a:prstDash val="solid"/>
          </a:ln>
        </p:spPr>
      </p:sp>
      <p:sp>
        <p:nvSpPr>
          <p:cNvPr id="12" name="Text 10"/>
          <p:cNvSpPr/>
          <p:nvPr/>
        </p:nvSpPr>
        <p:spPr>
          <a:xfrm>
            <a:off x="6423521" y="1591270"/>
            <a:ext cx="49146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13" name="Text 11"/>
          <p:cNvSpPr/>
          <p:nvPr/>
        </p:nvSpPr>
        <p:spPr>
          <a:xfrm>
            <a:off x="6423521" y="1883370"/>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Pd</a:t>
            </a:r>
            <a:r>
              <a:rPr lang="en-US" sz="1200" dirty="0">
                <a:solidFill>
                  <a:srgbClr val="1B1F2A"/>
                </a:solidFill>
                <a:latin typeface="Arial" pitchFamily="34" charset="0"/>
                <a:ea typeface="Arial" pitchFamily="34" charset="-122"/>
                <a:cs typeface="Arial" pitchFamily="34" charset="-120"/>
              </a:rPr>
              <a:t>: viết trong mã của P*, persona mong muốn</a:t>
            </a:r>
            <a:endParaRPr lang="en-US" sz="1200" dirty="0"/>
          </a:p>
        </p:txBody>
      </p:sp>
      <p:sp>
        <p:nvSpPr>
          <p:cNvPr id="14" name="Text 12"/>
          <p:cNvSpPr/>
          <p:nvPr/>
        </p:nvSpPr>
        <p:spPr>
          <a:xfrm>
            <a:off x="6423521" y="2144911"/>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CTRL</a:t>
            </a:r>
            <a:r>
              <a:rPr lang="en-US" sz="1200" dirty="0">
                <a:solidFill>
                  <a:srgbClr val="1B1F2A"/>
                </a:solidFill>
                <a:latin typeface="Arial" pitchFamily="34" charset="0"/>
                <a:ea typeface="Arial" pitchFamily="34" charset="-122"/>
                <a:cs typeface="Arial" pitchFamily="34" charset="-120"/>
              </a:rPr>
              <a:t>: mặt nạ: 1 = chiều được tính và được can thiệp, 0 = chiều được bảo vệ (V và E)</a:t>
            </a:r>
            <a:endParaRPr lang="en-US" sz="1200" dirty="0"/>
          </a:p>
        </p:txBody>
      </p:sp>
      <p:sp>
        <p:nvSpPr>
          <p:cNvPr id="15" name="Text 13"/>
          <p:cNvSpPr/>
          <p:nvPr/>
        </p:nvSpPr>
        <p:spPr>
          <a:xfrm>
            <a:off x="6423521" y="260449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gap</a:t>
            </a:r>
            <a:r>
              <a:rPr lang="en-US" sz="1200" dirty="0">
                <a:solidFill>
                  <a:srgbClr val="1B1F2A"/>
                </a:solidFill>
                <a:latin typeface="Arial" pitchFamily="34" charset="0"/>
                <a:ea typeface="Arial" pitchFamily="34" charset="-122"/>
                <a:cs typeface="Arial" pitchFamily="34" charset="-120"/>
              </a:rPr>
              <a:t>: khoảng cách trên từng chiều, sau khi che</a:t>
            </a:r>
            <a:endParaRPr lang="en-US" sz="1200" dirty="0"/>
          </a:p>
        </p:txBody>
      </p:sp>
      <p:sp>
        <p:nvSpPr>
          <p:cNvPr id="16" name="Text 14"/>
          <p:cNvSpPr/>
          <p:nvPr/>
        </p:nvSpPr>
        <p:spPr>
          <a:xfrm>
            <a:off x="6423521" y="2866033"/>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TG</a:t>
            </a:r>
            <a:r>
              <a:rPr lang="en-US" sz="1200" dirty="0">
                <a:solidFill>
                  <a:srgbClr val="1B1F2A"/>
                </a:solidFill>
                <a:latin typeface="Arial" pitchFamily="34" charset="0"/>
                <a:ea typeface="Arial" pitchFamily="34" charset="-122"/>
                <a:cs typeface="Arial" pitchFamily="34" charset="-120"/>
              </a:rPr>
              <a:t>: Transformation Gap (khoảng cách chuyển hóa): độ dài vector gap, càng nhỏ càng gần mục tiêu</a:t>
            </a:r>
            <a:endParaRPr lang="en-US" sz="1200" dirty="0"/>
          </a:p>
        </p:txBody>
      </p:sp>
      <p:sp>
        <p:nvSpPr>
          <p:cNvPr id="17" name="Text 15"/>
          <p:cNvSpPr/>
          <p:nvPr/>
        </p:nvSpPr>
        <p:spPr>
          <a:xfrm>
            <a:off x="6423521" y="3325614"/>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PAS</a:t>
            </a:r>
            <a:r>
              <a:rPr lang="en-US" sz="1200" dirty="0">
                <a:solidFill>
                  <a:srgbClr val="1B1F2A"/>
                </a:solidFill>
                <a:latin typeface="Arial" pitchFamily="34" charset="0"/>
                <a:ea typeface="Arial" pitchFamily="34" charset="-122"/>
                <a:cs typeface="Arial" pitchFamily="34" charset="-120"/>
              </a:rPr>
              <a:t>: Persona Alignment Score (điểm căn chỉnh persona): từ 0 đến 1, bằng 1 khi đã đạt mục tiêu</a:t>
            </a:r>
            <a:endParaRPr lang="en-US" sz="1200" dirty="0"/>
          </a:p>
        </p:txBody>
      </p:sp>
      <p:sp>
        <p:nvSpPr>
          <p:cNvPr id="18" name="Text 16"/>
          <p:cNvSpPr/>
          <p:nvPr/>
        </p:nvSpPr>
        <p:spPr>
          <a:xfrm>
            <a:off x="6423521" y="3785195"/>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2.236</a:t>
            </a:r>
            <a:r>
              <a:rPr lang="en-US" sz="1200" dirty="0">
                <a:solidFill>
                  <a:srgbClr val="1B1F2A"/>
                </a:solidFill>
                <a:latin typeface="Arial" pitchFamily="34" charset="0"/>
                <a:ea typeface="Arial" pitchFamily="34" charset="-122"/>
                <a:cs typeface="Arial" pitchFamily="34" charset="-120"/>
              </a:rPr>
              <a:t>: √5, khoảng cách lớn nhất có thể trên 5 chiều được tính</a:t>
            </a:r>
            <a:endParaRPr lang="en-US" sz="1200" dirty="0"/>
          </a:p>
        </p:txBody>
      </p:sp>
      <p:sp>
        <p:nvSpPr>
          <p:cNvPr id="19" name="Text 17"/>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10/22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Từ sự kiện trong app đến số đo z</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1937742"/>
        </p:xfrm>
        <a:graphic>
          <a:graphicData uri="http://schemas.openxmlformats.org/drawingml/2006/table">
            <a:tbl>
              <a:tblPr/>
              <a:tblGrid>
                <a:gridCol w="3517900"/>
                <a:gridCol w="3517900"/>
                <a:gridCol w="3517900"/>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Sự kiện trong một phiên học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Cách tính số đo z</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Chiều</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Chọn 5 nội dung, 4 cái đúng mục tiêu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4 / 5 = 0.80</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V: động lực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Làm 6 câu, đúng 4 câu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(4/6 − 0.3) / 0.6 ≈ 0.61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N: kỹ năng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Hoàn thành 3 trong 4 bài nói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3 / 4 = 0.75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E: tự tin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Hoàn thành 3 trong 5 bài luyện thi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3 / 5 = 0.60</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I: ý định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Học 5 trong 7 ngày gần nhất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(5/7 − 0.08) / 0.82 ≈ 0.78</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 thói quen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Shape 1"/>
          <p:cNvSpPr/>
          <p:nvPr/>
        </p:nvSpPr>
        <p:spPr>
          <a:xfrm>
            <a:off x="815975" y="3545185"/>
            <a:ext cx="10560050" cy="2293640"/>
          </a:xfrm>
          <a:prstGeom prst="roundRect">
            <a:avLst>
              <a:gd name="adj" fmla="val 4291"/>
            </a:avLst>
          </a:prstGeom>
          <a:solidFill>
            <a:srgbClr val="FFFFFF"/>
          </a:solidFill>
          <a:ln w="6350">
            <a:solidFill>
              <a:srgbClr val="DDD9CF"/>
            </a:solidFill>
            <a:prstDash val="solid"/>
          </a:ln>
        </p:spPr>
      </p:sp>
      <p:sp>
        <p:nvSpPr>
          <p:cNvPr id="5" name="Text 2"/>
          <p:cNvSpPr/>
          <p:nvPr/>
        </p:nvSpPr>
        <p:spPr>
          <a:xfrm>
            <a:off x="996950" y="3726160"/>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Vì sao cần bước tiếp theo</a:t>
            </a:r>
            <a:endParaRPr lang="en-US" sz="1500" dirty="0"/>
          </a:p>
        </p:txBody>
      </p:sp>
      <p:sp>
        <p:nvSpPr>
          <p:cNvPr id="6" name="Text 3"/>
          <p:cNvSpPr/>
          <p:nvPr/>
        </p:nvSpPr>
        <p:spPr>
          <a:xfrm>
            <a:off x="996950" y="4018260"/>
            <a:ext cx="1050404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z là số đo thô và nhiễu của MỘT phiên: ngày may mắn z cao, ngày mệt z thấp. Một phiên không đủ để kết luận về người học, nên cần bộ lọc gộp nhiều phiên.</a:t>
            </a:r>
            <a:endParaRPr lang="en-US" sz="1300" dirty="0"/>
          </a:p>
        </p:txBody>
      </p:sp>
      <p:sp>
        <p:nvSpPr>
          <p:cNvPr id="7" name="Text 4"/>
          <p:cNvSpPr/>
          <p:nvPr/>
        </p:nvSpPr>
        <p:spPr>
          <a:xfrm>
            <a:off x="996950" y="4527451"/>
            <a:ext cx="1050404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Phép trừ 0.3 và chia 0.6 ở chiều N loại phần đoán mò đúng khoảng 30%.</a:t>
            </a:r>
            <a:endParaRPr lang="en-US" sz="1200" dirty="0"/>
          </a:p>
        </p:txBody>
      </p:sp>
      <p:sp>
        <p:nvSpPr>
          <p:cNvPr id="8" name="Text 5"/>
          <p:cNvSpPr/>
          <p:nvPr/>
        </p:nvSpPr>
        <p:spPr>
          <a:xfrm>
            <a:off x="812800" y="6238280"/>
            <a:ext cx="2240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11/22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Ước lượng persona bằng lọc Kalman (Kalman filter)</a:t>
            </a:r>
            <a:endParaRPr lang="en-US" sz="2800" dirty="0"/>
          </a:p>
        </p:txBody>
      </p:sp>
      <p:sp>
        <p:nvSpPr>
          <p:cNvPr id="3" name="Shape 1"/>
          <p:cNvSpPr/>
          <p:nvPr/>
        </p:nvSpPr>
        <p:spPr>
          <a:xfrm>
            <a:off x="812800" y="1407120"/>
            <a:ext cx="5248771" cy="1143595"/>
          </a:xfrm>
          <a:prstGeom prst="roundRect">
            <a:avLst>
              <a:gd name="adj" fmla="val 8884"/>
            </a:avLst>
          </a:prstGeom>
          <a:solidFill>
            <a:srgbClr val="1B1F2A"/>
          </a:solidFill>
          <a:ln/>
        </p:spPr>
      </p:sp>
      <p:sp>
        <p:nvSpPr>
          <p:cNvPr id="4" name="Text 2"/>
          <p:cNvSpPr/>
          <p:nvPr/>
        </p:nvSpPr>
        <p:spPr>
          <a:xfrm>
            <a:off x="990600" y="1584920"/>
            <a:ext cx="5039966" cy="222448"/>
          </a:xfrm>
          <a:prstGeom prst="rect">
            <a:avLst/>
          </a:prstGeom>
          <a:noFill/>
          <a:ln/>
        </p:spPr>
        <p:txBody>
          <a:bodyPr wrap="square" lIns="0" tIns="0" rIns="0" bIns="0" rtlCol="0" anchor="t">
            <a:normAutofit/>
          </a:bodyPr>
          <a:lstStyle/>
          <a:p>
            <a:pPr algn="l" indent="0" marL="0">
              <a:lnSpc>
                <a:spcPts val="1573"/>
              </a:lnSpc>
              <a:buNone/>
            </a:pPr>
            <a:r>
              <a:rPr lang="en-US" sz="1048" dirty="0">
                <a:solidFill>
                  <a:srgbClr val="E8E6DF"/>
                </a:solidFill>
                <a:latin typeface="Courier New" pitchFamily="49" charset="0"/>
                <a:ea typeface="Courier New" pitchFamily="49" charset="-122"/>
                <a:cs typeface="Courier New" pitchFamily="49" charset="-120"/>
              </a:rPr>
              <a:t>S = S + Q                  # dự đoán</a:t>
            </a:r>
            <a:endParaRPr lang="en-US" sz="1048" dirty="0"/>
          </a:p>
        </p:txBody>
      </p:sp>
      <p:sp>
        <p:nvSpPr>
          <p:cNvPr id="5" name="Text 3"/>
          <p:cNvSpPr/>
          <p:nvPr/>
        </p:nvSpPr>
        <p:spPr>
          <a:xfrm>
            <a:off x="990600" y="1781969"/>
            <a:ext cx="5039966" cy="222349"/>
          </a:xfrm>
          <a:prstGeom prst="rect">
            <a:avLst/>
          </a:prstGeom>
          <a:noFill/>
          <a:ln/>
        </p:spPr>
        <p:txBody>
          <a:bodyPr wrap="square" lIns="0" tIns="0" rIns="0" bIns="0" rtlCol="0" anchor="t">
            <a:normAutofit/>
          </a:bodyPr>
          <a:lstStyle/>
          <a:p>
            <a:pPr algn="l" indent="0" marL="0">
              <a:lnSpc>
                <a:spcPts val="1573"/>
              </a:lnSpc>
              <a:buNone/>
            </a:pPr>
            <a:r>
              <a:rPr lang="en-US" sz="1048" dirty="0">
                <a:solidFill>
                  <a:srgbClr val="E8E6DF"/>
                </a:solidFill>
                <a:latin typeface="Courier New" pitchFamily="49" charset="0"/>
                <a:ea typeface="Courier New" pitchFamily="49" charset="-122"/>
                <a:cs typeface="Courier New" pitchFamily="49" charset="-120"/>
              </a:rPr>
              <a:t>K = S / (S + R_DIAG) * mask  # độ lợi</a:t>
            </a:r>
            <a:endParaRPr lang="en-US" sz="1048" dirty="0"/>
          </a:p>
        </p:txBody>
      </p:sp>
      <p:sp>
        <p:nvSpPr>
          <p:cNvPr id="6" name="Text 4"/>
          <p:cNvSpPr/>
          <p:nvPr/>
        </p:nvSpPr>
        <p:spPr>
          <a:xfrm>
            <a:off x="990600" y="1978918"/>
            <a:ext cx="5039966" cy="222448"/>
          </a:xfrm>
          <a:prstGeom prst="rect">
            <a:avLst/>
          </a:prstGeom>
          <a:noFill/>
          <a:ln/>
        </p:spPr>
        <p:txBody>
          <a:bodyPr wrap="square" lIns="0" tIns="0" rIns="0" bIns="0" rtlCol="0" anchor="t">
            <a:normAutofit/>
          </a:bodyPr>
          <a:lstStyle/>
          <a:p>
            <a:pPr algn="l" indent="0" marL="0">
              <a:lnSpc>
                <a:spcPts val="1573"/>
              </a:lnSpc>
              <a:buNone/>
            </a:pPr>
            <a:r>
              <a:rPr lang="en-US" sz="1048" dirty="0">
                <a:solidFill>
                  <a:srgbClr val="E8E6DF"/>
                </a:solidFill>
                <a:latin typeface="Courier New" pitchFamily="49" charset="0"/>
                <a:ea typeface="Courier New" pitchFamily="49" charset="-122"/>
                <a:cs typeface="Courier New" pitchFamily="49" charset="-120"/>
              </a:rPr>
              <a:t>P = P + K * (z - P)        # cập nhật</a:t>
            </a:r>
            <a:endParaRPr lang="en-US" sz="1048" dirty="0"/>
          </a:p>
        </p:txBody>
      </p:sp>
      <p:sp>
        <p:nvSpPr>
          <p:cNvPr id="7" name="Text 5"/>
          <p:cNvSpPr/>
          <p:nvPr/>
        </p:nvSpPr>
        <p:spPr>
          <a:xfrm>
            <a:off x="990600" y="2175966"/>
            <a:ext cx="5039966" cy="222349"/>
          </a:xfrm>
          <a:prstGeom prst="rect">
            <a:avLst/>
          </a:prstGeom>
          <a:noFill/>
          <a:ln/>
        </p:spPr>
        <p:txBody>
          <a:bodyPr wrap="square" lIns="0" tIns="0" rIns="0" bIns="0" rtlCol="0" anchor="t">
            <a:normAutofit/>
          </a:bodyPr>
          <a:lstStyle/>
          <a:p>
            <a:pPr algn="l" indent="0" marL="0">
              <a:lnSpc>
                <a:spcPts val="1573"/>
              </a:lnSpc>
              <a:buNone/>
            </a:pPr>
            <a:r>
              <a:rPr lang="en-US" sz="1048" dirty="0">
                <a:solidFill>
                  <a:srgbClr val="E8E6DF"/>
                </a:solidFill>
                <a:latin typeface="Courier New" pitchFamily="49" charset="0"/>
                <a:ea typeface="Courier New" pitchFamily="49" charset="-122"/>
                <a:cs typeface="Courier New" pitchFamily="49" charset="-120"/>
              </a:rPr>
              <a:t>S = (1 - K) * S           # bất định</a:t>
            </a:r>
            <a:endParaRPr lang="en-US" sz="1048" dirty="0"/>
          </a:p>
        </p:txBody>
      </p:sp>
      <p:sp>
        <p:nvSpPr>
          <p:cNvPr id="8" name="Shape 6"/>
          <p:cNvSpPr/>
          <p:nvPr/>
        </p:nvSpPr>
        <p:spPr>
          <a:xfrm>
            <a:off x="815975" y="2706291"/>
            <a:ext cx="5242421" cy="1149945"/>
          </a:xfrm>
          <a:prstGeom prst="roundRect">
            <a:avLst>
              <a:gd name="adj" fmla="val 8559"/>
            </a:avLst>
          </a:prstGeom>
          <a:solidFill>
            <a:srgbClr val="FFFFFF"/>
          </a:solidFill>
          <a:ln w="6350">
            <a:solidFill>
              <a:srgbClr val="DDD9CF"/>
            </a:solidFill>
            <a:prstDash val="solid"/>
          </a:ln>
        </p:spPr>
      </p:sp>
      <p:sp>
        <p:nvSpPr>
          <p:cNvPr id="9" name="Text 7"/>
          <p:cNvSpPr/>
          <p:nvPr/>
        </p:nvSpPr>
        <p:spPr>
          <a:xfrm>
            <a:off x="996950" y="2887266"/>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Kết quả mô phỏng</a:t>
            </a:r>
            <a:endParaRPr lang="en-US" sz="1500" dirty="0"/>
          </a:p>
        </p:txBody>
      </p:sp>
      <p:sp>
        <p:nvSpPr>
          <p:cNvPr id="10" name="Text 8"/>
          <p:cNvSpPr/>
          <p:nvPr/>
        </p:nvSpPr>
        <p:spPr>
          <a:xfrm>
            <a:off x="996950" y="3179366"/>
            <a:ext cx="502688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RMSE (Root Mean Square Error, căn sai số bình phương trung bình) so với persona thật: 0.106 với bộ lọc, 0.179 khi đoán mù 0.5.</a:t>
            </a:r>
            <a:endParaRPr lang="en-US" sz="1300" dirty="0"/>
          </a:p>
        </p:txBody>
      </p:sp>
      <p:sp>
        <p:nvSpPr>
          <p:cNvPr id="11" name="Shape 9"/>
          <p:cNvSpPr/>
          <p:nvPr/>
        </p:nvSpPr>
        <p:spPr>
          <a:xfrm>
            <a:off x="6242546" y="1410295"/>
            <a:ext cx="5133479" cy="2445941"/>
          </a:xfrm>
          <a:prstGeom prst="roundRect">
            <a:avLst>
              <a:gd name="adj" fmla="val 4024"/>
            </a:avLst>
          </a:prstGeom>
          <a:solidFill>
            <a:srgbClr val="FFFFFF"/>
          </a:solidFill>
          <a:ln w="6350">
            <a:solidFill>
              <a:srgbClr val="DDD9CF"/>
            </a:solidFill>
            <a:prstDash val="solid"/>
          </a:ln>
        </p:spPr>
      </p:sp>
      <p:sp>
        <p:nvSpPr>
          <p:cNvPr id="12" name="Text 10"/>
          <p:cNvSpPr/>
          <p:nvPr/>
        </p:nvSpPr>
        <p:spPr>
          <a:xfrm>
            <a:off x="6423521" y="1591270"/>
            <a:ext cx="49146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13" name="Text 11"/>
          <p:cNvSpPr/>
          <p:nvPr/>
        </p:nvSpPr>
        <p:spPr>
          <a:xfrm>
            <a:off x="6423521" y="1883370"/>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a:t>
            </a:r>
            <a:r>
              <a:rPr lang="en-US" sz="1200" dirty="0">
                <a:solidFill>
                  <a:srgbClr val="1B1F2A"/>
                </a:solidFill>
                <a:latin typeface="Arial" pitchFamily="34" charset="0"/>
                <a:ea typeface="Arial" pitchFamily="34" charset="-122"/>
                <a:cs typeface="Arial" pitchFamily="34" charset="-120"/>
              </a:rPr>
              <a:t>: ước lượng persona hiện tại</a:t>
            </a:r>
            <a:endParaRPr lang="en-US" sz="1200" dirty="0"/>
          </a:p>
        </p:txBody>
      </p:sp>
      <p:sp>
        <p:nvSpPr>
          <p:cNvPr id="14" name="Text 12"/>
          <p:cNvSpPr/>
          <p:nvPr/>
        </p:nvSpPr>
        <p:spPr>
          <a:xfrm>
            <a:off x="6423521" y="2144911"/>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z</a:t>
            </a:r>
            <a:r>
              <a:rPr lang="en-US" sz="1200" dirty="0">
                <a:solidFill>
                  <a:srgbClr val="1B1F2A"/>
                </a:solidFill>
                <a:latin typeface="Arial" pitchFamily="34" charset="0"/>
                <a:ea typeface="Arial" pitchFamily="34" charset="-122"/>
                <a:cs typeface="Arial" pitchFamily="34" charset="-120"/>
              </a:rPr>
              <a:t>: số đo mới của phiên học (slide 11)</a:t>
            </a:r>
            <a:endParaRPr lang="en-US" sz="1200" dirty="0"/>
          </a:p>
        </p:txBody>
      </p:sp>
      <p:sp>
        <p:nvSpPr>
          <p:cNvPr id="15" name="Text 13"/>
          <p:cNvSpPr/>
          <p:nvPr/>
        </p:nvSpPr>
        <p:spPr>
          <a:xfrm>
            <a:off x="6423521" y="240645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S</a:t>
            </a:r>
            <a:r>
              <a:rPr lang="en-US" sz="1200" dirty="0">
                <a:solidFill>
                  <a:srgbClr val="1B1F2A"/>
                </a:solidFill>
                <a:latin typeface="Arial" pitchFamily="34" charset="0"/>
                <a:ea typeface="Arial" pitchFamily="34" charset="-122"/>
                <a:cs typeface="Arial" pitchFamily="34" charset="-120"/>
              </a:rPr>
              <a:t>: phương sai: mức không chắc chắn về P; U là căn bậc hai của S</a:t>
            </a:r>
            <a:endParaRPr lang="en-US" sz="1200" dirty="0"/>
          </a:p>
        </p:txBody>
      </p:sp>
      <p:sp>
        <p:nvSpPr>
          <p:cNvPr id="16" name="Text 14"/>
          <p:cNvSpPr/>
          <p:nvPr/>
        </p:nvSpPr>
        <p:spPr>
          <a:xfrm>
            <a:off x="6423521" y="266799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Q</a:t>
            </a:r>
            <a:r>
              <a:rPr lang="en-US" sz="1200" dirty="0">
                <a:solidFill>
                  <a:srgbClr val="1B1F2A"/>
                </a:solidFill>
                <a:latin typeface="Arial" pitchFamily="34" charset="0"/>
                <a:ea typeface="Arial" pitchFamily="34" charset="-122"/>
                <a:cs typeface="Arial" pitchFamily="34" charset="-120"/>
              </a:rPr>
              <a:t>: nhiễu quá trình: persona tự thay đổi mỗi ngày (0.0015)</a:t>
            </a:r>
            <a:endParaRPr lang="en-US" sz="1200" dirty="0"/>
          </a:p>
        </p:txBody>
      </p:sp>
      <p:sp>
        <p:nvSpPr>
          <p:cNvPr id="17" name="Text 15"/>
          <p:cNvSpPr/>
          <p:nvPr/>
        </p:nvSpPr>
        <p:spPr>
          <a:xfrm>
            <a:off x="6423521" y="292953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R_DIAG</a:t>
            </a:r>
            <a:r>
              <a:rPr lang="en-US" sz="1200" dirty="0">
                <a:solidFill>
                  <a:srgbClr val="1B1F2A"/>
                </a:solidFill>
                <a:latin typeface="Arial" pitchFamily="34" charset="0"/>
                <a:ea typeface="Arial" pitchFamily="34" charset="-122"/>
                <a:cs typeface="Arial" pitchFamily="34" charset="-120"/>
              </a:rPr>
              <a:t>: nhiễu quan sát: mức nhiễu của z, mỗi chiều một giá trị</a:t>
            </a:r>
            <a:endParaRPr lang="en-US" sz="1200" dirty="0"/>
          </a:p>
        </p:txBody>
      </p:sp>
      <p:sp>
        <p:nvSpPr>
          <p:cNvPr id="18" name="Text 16"/>
          <p:cNvSpPr/>
          <p:nvPr/>
        </p:nvSpPr>
        <p:spPr>
          <a:xfrm>
            <a:off x="6423521" y="319107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K</a:t>
            </a:r>
            <a:r>
              <a:rPr lang="en-US" sz="1200" dirty="0">
                <a:solidFill>
                  <a:srgbClr val="1B1F2A"/>
                </a:solidFill>
                <a:latin typeface="Arial" pitchFamily="34" charset="0"/>
                <a:ea typeface="Arial" pitchFamily="34" charset="-122"/>
                <a:cs typeface="Arial" pitchFamily="34" charset="-120"/>
              </a:rPr>
              <a:t>: độ lợi từ 0 đến 1: tin số đo mới bao nhiêu</a:t>
            </a:r>
            <a:endParaRPr lang="en-US" sz="1200" dirty="0"/>
          </a:p>
        </p:txBody>
      </p:sp>
      <p:sp>
        <p:nvSpPr>
          <p:cNvPr id="19" name="Text 17"/>
          <p:cNvSpPr/>
          <p:nvPr/>
        </p:nvSpPr>
        <p:spPr>
          <a:xfrm>
            <a:off x="6423521" y="3452614"/>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mask</a:t>
            </a:r>
            <a:r>
              <a:rPr lang="en-US" sz="1200" dirty="0">
                <a:solidFill>
                  <a:srgbClr val="1B1F2A"/>
                </a:solidFill>
                <a:latin typeface="Arial" pitchFamily="34" charset="0"/>
                <a:ea typeface="Arial" pitchFamily="34" charset="-122"/>
                <a:cs typeface="Arial" pitchFamily="34" charset="-120"/>
              </a:rPr>
              <a:t>: 1 nếu hôm nay đo được chiều đó, 0 nếu không (khi đó K = 0)</a:t>
            </a:r>
            <a:endParaRPr lang="en-US" sz="1200" dirty="0"/>
          </a:p>
        </p:txBody>
      </p:sp>
      <p:sp>
        <p:nvSpPr>
          <p:cNvPr id="20" name="Text 18"/>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12/22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Phân đoạn (segment): gom người học có vector gần nhau</a:t>
            </a:r>
            <a:endParaRPr lang="en-US" sz="2800" dirty="0"/>
          </a:p>
        </p:txBody>
      </p:sp>
      <p:sp>
        <p:nvSpPr>
          <p:cNvPr id="3" name="Shape 1"/>
          <p:cNvSpPr/>
          <p:nvPr/>
        </p:nvSpPr>
        <p:spPr>
          <a:xfrm>
            <a:off x="815975" y="1410295"/>
            <a:ext cx="3397250" cy="1322586"/>
          </a:xfrm>
          <a:prstGeom prst="roundRect">
            <a:avLst>
              <a:gd name="adj" fmla="val 7442"/>
            </a:avLst>
          </a:prstGeom>
          <a:solidFill>
            <a:srgbClr val="FFFFFF"/>
          </a:solidFill>
          <a:ln w="6350">
            <a:solidFill>
              <a:srgbClr val="DDD9CF"/>
            </a:solidFill>
            <a:prstDash val="solid"/>
          </a:ln>
        </p:spPr>
      </p:sp>
      <p:sp>
        <p:nvSpPr>
          <p:cNvPr id="4" name="Text 2"/>
          <p:cNvSpPr/>
          <p:nvPr/>
        </p:nvSpPr>
        <p:spPr>
          <a:xfrm>
            <a:off x="9969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K-means (gom cụm)</a:t>
            </a:r>
            <a:endParaRPr lang="en-US" sz="1500" dirty="0"/>
          </a:p>
        </p:txBody>
      </p:sp>
      <p:sp>
        <p:nvSpPr>
          <p:cNvPr id="5" name="Text 3"/>
          <p:cNvSpPr/>
          <p:nvPr/>
        </p:nvSpPr>
        <p:spPr>
          <a:xfrm>
            <a:off x="996950" y="1883370"/>
            <a:ext cx="3126359"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Thuật toán gom người học thành K nhóm (segment) quanh K điểm tâm. Demo dùng K = 3.</a:t>
            </a:r>
            <a:endParaRPr lang="en-US" sz="1300" dirty="0"/>
          </a:p>
        </p:txBody>
      </p:sp>
      <p:sp>
        <p:nvSpPr>
          <p:cNvPr id="6" name="Shape 4"/>
          <p:cNvSpPr/>
          <p:nvPr/>
        </p:nvSpPr>
        <p:spPr>
          <a:xfrm>
            <a:off x="4397375" y="1410295"/>
            <a:ext cx="3397250" cy="1322586"/>
          </a:xfrm>
          <a:prstGeom prst="roundRect">
            <a:avLst>
              <a:gd name="adj" fmla="val 7442"/>
            </a:avLst>
          </a:prstGeom>
          <a:solidFill>
            <a:srgbClr val="FFFFFF"/>
          </a:solidFill>
          <a:ln w="6350">
            <a:solidFill>
              <a:srgbClr val="DDD9CF"/>
            </a:solidFill>
            <a:prstDash val="solid"/>
          </a:ln>
        </p:spPr>
      </p:sp>
      <p:sp>
        <p:nvSpPr>
          <p:cNvPr id="7" name="Text 5"/>
          <p:cNvSpPr/>
          <p:nvPr/>
        </p:nvSpPr>
        <p:spPr>
          <a:xfrm>
            <a:off x="45783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Silhouette (độ tách cụm)</a:t>
            </a:r>
            <a:endParaRPr lang="en-US" sz="1500" dirty="0"/>
          </a:p>
        </p:txBody>
      </p:sp>
      <p:sp>
        <p:nvSpPr>
          <p:cNvPr id="8" name="Text 6"/>
          <p:cNvSpPr/>
          <p:nvPr/>
        </p:nvSpPr>
        <p:spPr>
          <a:xfrm>
            <a:off x="4578350" y="1883370"/>
            <a:ext cx="3126359"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Điểm từ −1 đến 1 cho biết các nhóm tách nhau rõ đến đâu. Demo đạt 0.23: tách ở mức vừa phải, có chồng lấn.</a:t>
            </a:r>
            <a:endParaRPr lang="en-US" sz="1300" dirty="0"/>
          </a:p>
        </p:txBody>
      </p:sp>
      <p:sp>
        <p:nvSpPr>
          <p:cNvPr id="9" name="Shape 7"/>
          <p:cNvSpPr/>
          <p:nvPr/>
        </p:nvSpPr>
        <p:spPr>
          <a:xfrm>
            <a:off x="7978775" y="1410295"/>
            <a:ext cx="3397250" cy="1322586"/>
          </a:xfrm>
          <a:prstGeom prst="roundRect">
            <a:avLst>
              <a:gd name="adj" fmla="val 7442"/>
            </a:avLst>
          </a:prstGeom>
          <a:solidFill>
            <a:srgbClr val="FFFFFF"/>
          </a:solidFill>
          <a:ln w="6350">
            <a:solidFill>
              <a:srgbClr val="DDD9CF"/>
            </a:solidFill>
            <a:prstDash val="solid"/>
          </a:ln>
        </p:spPr>
      </p:sp>
      <p:sp>
        <p:nvSpPr>
          <p:cNvPr id="10" name="Text 8"/>
          <p:cNvSpPr/>
          <p:nvPr/>
        </p:nvSpPr>
        <p:spPr>
          <a:xfrm>
            <a:off x="8159750" y="1591270"/>
            <a:ext cx="31263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ARI (Adjusted Rand Index)</a:t>
            </a:r>
            <a:endParaRPr lang="en-US" sz="1500" dirty="0"/>
          </a:p>
        </p:txBody>
      </p:sp>
      <p:sp>
        <p:nvSpPr>
          <p:cNvPr id="11" name="Text 9"/>
          <p:cNvSpPr/>
          <p:nvPr/>
        </p:nvSpPr>
        <p:spPr>
          <a:xfrm>
            <a:off x="8159750" y="1883370"/>
            <a:ext cx="3126359"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Chỉ số Rand điều chỉnh, từ 0 đến 1, đo độ ổn định khi gom lại trên mẫu khác. Demo đạt khoảng 0.9: ổn định.</a:t>
            </a:r>
            <a:endParaRPr lang="en-US" sz="1300" dirty="0"/>
          </a:p>
        </p:txBody>
      </p:sp>
      <p:sp>
        <p:nvSpPr>
          <p:cNvPr id="12" name="Shape 10"/>
          <p:cNvSpPr/>
          <p:nvPr/>
        </p:nvSpPr>
        <p:spPr>
          <a:xfrm>
            <a:off x="815975" y="2942431"/>
            <a:ext cx="10560050" cy="2896394"/>
          </a:xfrm>
          <a:prstGeom prst="roundRect">
            <a:avLst>
              <a:gd name="adj" fmla="val 3398"/>
            </a:avLst>
          </a:prstGeom>
          <a:solidFill>
            <a:srgbClr val="FFFFFF"/>
          </a:solidFill>
          <a:ln w="6350">
            <a:solidFill>
              <a:srgbClr val="DDD9CF"/>
            </a:solidFill>
            <a:prstDash val="solid"/>
          </a:ln>
        </p:spPr>
      </p:sp>
      <p:sp>
        <p:nvSpPr>
          <p:cNvPr id="13" name="Text 11"/>
          <p:cNvSpPr/>
          <p:nvPr/>
        </p:nvSpPr>
        <p:spPr>
          <a:xfrm>
            <a:off x="996950" y="3123406"/>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Đặt tên segment</a:t>
            </a:r>
            <a:endParaRPr lang="en-US" sz="1500" dirty="0"/>
          </a:p>
        </p:txBody>
      </p:sp>
      <p:sp>
        <p:nvSpPr>
          <p:cNvPr id="14" name="Text 12"/>
          <p:cNvSpPr/>
          <p:nvPr/>
        </p:nvSpPr>
        <p:spPr>
          <a:xfrm>
            <a:off x="996950" y="3415506"/>
            <a:ext cx="1050404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1F2A"/>
                </a:solidFill>
                <a:latin typeface="Arial" pitchFamily="34" charset="0"/>
                <a:ea typeface="Arial" pitchFamily="34" charset="-122"/>
                <a:cs typeface="Arial" pitchFamily="34" charset="-120"/>
              </a:rPr>
              <a:t>Tên ghép từ hai chiều thấp nhất của tâm nhóm, ví dụ "Thiếu tự tin + Học thất thường". Tên chỉ là diễn giải để người dạy dễ đọc, không phải bằng chứng về tâm lý.</a:t>
            </a:r>
            <a:endParaRPr lang="en-US" sz="1300" dirty="0"/>
          </a:p>
        </p:txBody>
      </p:sp>
      <p:sp>
        <p:nvSpPr>
          <p:cNvPr id="15" name="Text 13"/>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13/22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Chọn hoạt động: NBTA và Thompson Sampling</a:t>
            </a:r>
            <a:endParaRPr lang="en-US" sz="2800" dirty="0"/>
          </a:p>
        </p:txBody>
      </p:sp>
      <p:sp>
        <p:nvSpPr>
          <p:cNvPr id="3" name="Shape 1"/>
          <p:cNvSpPr/>
          <p:nvPr/>
        </p:nvSpPr>
        <p:spPr>
          <a:xfrm>
            <a:off x="812800" y="1407120"/>
            <a:ext cx="5248771" cy="1438771"/>
          </a:xfrm>
          <a:prstGeom prst="roundRect">
            <a:avLst>
              <a:gd name="adj" fmla="val 7062"/>
            </a:avLst>
          </a:prstGeom>
          <a:solidFill>
            <a:srgbClr val="1B1F2A"/>
          </a:solidFill>
          <a:ln/>
        </p:spPr>
      </p:sp>
      <p:sp>
        <p:nvSpPr>
          <p:cNvPr id="4" name="Text 2"/>
          <p:cNvSpPr/>
          <p:nvPr/>
        </p:nvSpPr>
        <p:spPr>
          <a:xfrm>
            <a:off x="990600" y="1584920"/>
            <a:ext cx="5039966" cy="205978"/>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score = net_score(P, Pd)</a:t>
            </a:r>
            <a:endParaRPr lang="en-US" sz="949" dirty="0"/>
          </a:p>
        </p:txBody>
      </p:sp>
      <p:sp>
        <p:nvSpPr>
          <p:cNvPr id="5" name="Text 3"/>
          <p:cNvSpPr/>
          <p:nvPr/>
        </p:nvSpPr>
        <p:spPr>
          <a:xfrm>
            <a:off x="990600" y="1765498"/>
            <a:ext cx="5039966" cy="205879"/>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score[:, BLOCKED] = -np.inf</a:t>
            </a:r>
            <a:endParaRPr lang="en-US" sz="949" dirty="0"/>
          </a:p>
        </p:txBody>
      </p:sp>
      <p:sp>
        <p:nvSpPr>
          <p:cNvPr id="6" name="Text 4"/>
          <p:cNvSpPr/>
          <p:nvPr/>
        </p:nvSpPr>
        <p:spPr>
          <a:xfrm>
            <a:off x="990600" y="1945977"/>
            <a:ext cx="5039966" cy="205978"/>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top3 = np.argsort(-score)[:, :3]</a:t>
            </a:r>
            <a:endParaRPr lang="en-US" sz="949" dirty="0"/>
          </a:p>
        </p:txBody>
      </p:sp>
      <p:sp>
        <p:nvSpPr>
          <p:cNvPr id="7" name="Text 5"/>
          <p:cNvSpPr/>
          <p:nvPr/>
        </p:nvSpPr>
        <p:spPr>
          <a:xfrm>
            <a:off x="990600" y="2126555"/>
            <a:ext cx="5039966" cy="205879"/>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theta = rng.beta(alpha[seg, top3],</a:t>
            </a:r>
            <a:endParaRPr lang="en-US" sz="949" dirty="0"/>
          </a:p>
        </p:txBody>
      </p:sp>
      <p:sp>
        <p:nvSpPr>
          <p:cNvPr id="8" name="Text 6"/>
          <p:cNvSpPr/>
          <p:nvPr/>
        </p:nvSpPr>
        <p:spPr>
          <a:xfrm>
            <a:off x="990600" y="2307034"/>
            <a:ext cx="5039966" cy="205978"/>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                 beta[seg, top3])</a:t>
            </a:r>
            <a:endParaRPr lang="en-US" sz="949" dirty="0"/>
          </a:p>
        </p:txBody>
      </p:sp>
      <p:sp>
        <p:nvSpPr>
          <p:cNvPr id="9" name="Text 7"/>
          <p:cNvSpPr/>
          <p:nvPr/>
        </p:nvSpPr>
        <p:spPr>
          <a:xfrm>
            <a:off x="990600" y="2487613"/>
            <a:ext cx="5039966" cy="205879"/>
          </a:xfrm>
          <a:prstGeom prst="rect">
            <a:avLst/>
          </a:prstGeom>
          <a:noFill/>
          <a:ln/>
        </p:spPr>
        <p:txBody>
          <a:bodyPr wrap="square" lIns="0" tIns="0" rIns="0" bIns="0" rtlCol="0" anchor="t">
            <a:normAutofit/>
          </a:bodyPr>
          <a:lstStyle/>
          <a:p>
            <a:pPr algn="l" indent="0" marL="0">
              <a:lnSpc>
                <a:spcPts val="1423"/>
              </a:lnSpc>
              <a:buNone/>
            </a:pPr>
            <a:r>
              <a:rPr lang="en-US" sz="949" dirty="0">
                <a:solidFill>
                  <a:srgbClr val="E8E6DF"/>
                </a:solidFill>
                <a:latin typeface="Courier New" pitchFamily="49" charset="0"/>
                <a:ea typeface="Courier New" pitchFamily="49" charset="-122"/>
                <a:cs typeface="Courier New" pitchFamily="49" charset="-120"/>
              </a:rPr>
              <a:t>action = top3[np.argmax(theta)]</a:t>
            </a:r>
            <a:endParaRPr lang="en-US" sz="949" dirty="0"/>
          </a:p>
        </p:txBody>
      </p:sp>
      <p:sp>
        <p:nvSpPr>
          <p:cNvPr id="10" name="Shape 8"/>
          <p:cNvSpPr/>
          <p:nvPr/>
        </p:nvSpPr>
        <p:spPr>
          <a:xfrm>
            <a:off x="815975" y="3001466"/>
            <a:ext cx="5242421" cy="1445220"/>
          </a:xfrm>
          <a:prstGeom prst="roundRect">
            <a:avLst>
              <a:gd name="adj" fmla="val 6810"/>
            </a:avLst>
          </a:prstGeom>
          <a:solidFill>
            <a:srgbClr val="FFFFFF"/>
          </a:solidFill>
          <a:ln w="6350">
            <a:solidFill>
              <a:srgbClr val="DDD9CF"/>
            </a:solidFill>
            <a:prstDash val="solid"/>
          </a:ln>
        </p:spPr>
      </p:sp>
      <p:sp>
        <p:nvSpPr>
          <p:cNvPr id="11" name="Text 9"/>
          <p:cNvSpPr/>
          <p:nvPr/>
        </p:nvSpPr>
        <p:spPr>
          <a:xfrm>
            <a:off x="996950" y="3182441"/>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Uplift (hiệu ứng tăng thêm)</a:t>
            </a:r>
            <a:endParaRPr lang="en-US" sz="1500" dirty="0"/>
          </a:p>
        </p:txBody>
      </p:sp>
      <p:sp>
        <p:nvSpPr>
          <p:cNvPr id="12" name="Text 10"/>
          <p:cNvSpPr/>
          <p:nvPr/>
        </p:nvSpPr>
        <p:spPr>
          <a:xfrm>
            <a:off x="996950" y="3474541"/>
            <a:ext cx="502688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Tiến triển của nhóm được can thiệp trừ tiến triển của nhóm đối chứng (không can thiệp). Chọn theo uplift để không tính công cho những người vốn sẽ tiến bộ.</a:t>
            </a:r>
            <a:endParaRPr lang="en-US" sz="1200" dirty="0"/>
          </a:p>
        </p:txBody>
      </p:sp>
      <p:sp>
        <p:nvSpPr>
          <p:cNvPr id="13" name="Shape 11"/>
          <p:cNvSpPr/>
          <p:nvPr/>
        </p:nvSpPr>
        <p:spPr>
          <a:xfrm>
            <a:off x="6242546" y="1410295"/>
            <a:ext cx="5133479" cy="3036391"/>
          </a:xfrm>
          <a:prstGeom prst="roundRect">
            <a:avLst>
              <a:gd name="adj" fmla="val 3242"/>
            </a:avLst>
          </a:prstGeom>
          <a:solidFill>
            <a:srgbClr val="FFFFFF"/>
          </a:solidFill>
          <a:ln w="6350">
            <a:solidFill>
              <a:srgbClr val="DDD9CF"/>
            </a:solidFill>
            <a:prstDash val="solid"/>
          </a:ln>
        </p:spPr>
      </p:sp>
      <p:sp>
        <p:nvSpPr>
          <p:cNvPr id="14" name="Text 12"/>
          <p:cNvSpPr/>
          <p:nvPr/>
        </p:nvSpPr>
        <p:spPr>
          <a:xfrm>
            <a:off x="6423521" y="1591270"/>
            <a:ext cx="49146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15" name="Text 13"/>
          <p:cNvSpPr/>
          <p:nvPr/>
        </p:nvSpPr>
        <p:spPr>
          <a:xfrm>
            <a:off x="6423521" y="1883370"/>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NBTA</a:t>
            </a:r>
            <a:r>
              <a:rPr lang="en-US" sz="1200" dirty="0">
                <a:solidFill>
                  <a:srgbClr val="1B1F2A"/>
                </a:solidFill>
                <a:latin typeface="Arial" pitchFamily="34" charset="0"/>
                <a:ea typeface="Arial" pitchFamily="34" charset="-122"/>
                <a:cs typeface="Arial" pitchFamily="34" charset="-120"/>
              </a:rPr>
              <a:t>: Next Best Transformation Action (hoạt động chuyển hóa tốt nhất tiếp theo), giúp người học tiến gần mục tiêu nhất ở bước kế tiếp</a:t>
            </a:r>
            <a:endParaRPr lang="en-US" sz="1200" dirty="0"/>
          </a:p>
        </p:txBody>
      </p:sp>
      <p:sp>
        <p:nvSpPr>
          <p:cNvPr id="16" name="Text 14"/>
          <p:cNvSpPr/>
          <p:nvPr/>
        </p:nvSpPr>
        <p:spPr>
          <a:xfrm>
            <a:off x="6423521" y="234295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net_score</a:t>
            </a:r>
            <a:r>
              <a:rPr lang="en-US" sz="1200" dirty="0">
                <a:solidFill>
                  <a:srgbClr val="1B1F2A"/>
                </a:solidFill>
                <a:latin typeface="Arial" pitchFamily="34" charset="0"/>
                <a:ea typeface="Arial" pitchFamily="34" charset="-122"/>
                <a:cs typeface="Arial" pitchFamily="34" charset="-120"/>
              </a:rPr>
              <a:t>: mức giảm TG kỳ vọng trừ phạt chi phí</a:t>
            </a:r>
            <a:endParaRPr lang="en-US" sz="1200" dirty="0"/>
          </a:p>
        </p:txBody>
      </p:sp>
      <p:sp>
        <p:nvSpPr>
          <p:cNvPr id="17" name="Text 15"/>
          <p:cNvSpPr/>
          <p:nvPr/>
        </p:nvSpPr>
        <p:spPr>
          <a:xfrm>
            <a:off x="6423521" y="260449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BLOCKED</a:t>
            </a:r>
            <a:r>
              <a:rPr lang="en-US" sz="1200" dirty="0">
                <a:solidFill>
                  <a:srgbClr val="1B1F2A"/>
                </a:solidFill>
                <a:latin typeface="Arial" pitchFamily="34" charset="0"/>
                <a:ea typeface="Arial" pitchFamily="34" charset="-122"/>
                <a:cs typeface="Arial" pitchFamily="34" charset="-120"/>
              </a:rPr>
              <a:t>: các hoạt động bị cấm (slide 15)</a:t>
            </a:r>
            <a:endParaRPr lang="en-US" sz="1200" dirty="0"/>
          </a:p>
        </p:txBody>
      </p:sp>
      <p:sp>
        <p:nvSpPr>
          <p:cNvPr id="18" name="Text 16"/>
          <p:cNvSpPr/>
          <p:nvPr/>
        </p:nvSpPr>
        <p:spPr>
          <a:xfrm>
            <a:off x="6423521" y="286603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top3</a:t>
            </a:r>
            <a:r>
              <a:rPr lang="en-US" sz="1200" dirty="0">
                <a:solidFill>
                  <a:srgbClr val="1B1F2A"/>
                </a:solidFill>
                <a:latin typeface="Arial" pitchFamily="34" charset="0"/>
                <a:ea typeface="Arial" pitchFamily="34" charset="-122"/>
                <a:cs typeface="Arial" pitchFamily="34" charset="-120"/>
              </a:rPr>
              <a:t>: 3 hoạt động có điểm cao nhất</a:t>
            </a:r>
            <a:endParaRPr lang="en-US" sz="1200" dirty="0"/>
          </a:p>
        </p:txBody>
      </p:sp>
      <p:sp>
        <p:nvSpPr>
          <p:cNvPr id="19" name="Text 17"/>
          <p:cNvSpPr/>
          <p:nvPr/>
        </p:nvSpPr>
        <p:spPr>
          <a:xfrm>
            <a:off x="6423521" y="3127573"/>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alpha, beta</a:t>
            </a:r>
            <a:r>
              <a:rPr lang="en-US" sz="1200" dirty="0">
                <a:solidFill>
                  <a:srgbClr val="1B1F2A"/>
                </a:solidFill>
                <a:latin typeface="Arial" pitchFamily="34" charset="0"/>
                <a:ea typeface="Arial" pitchFamily="34" charset="-122"/>
                <a:cs typeface="Arial" pitchFamily="34" charset="-120"/>
              </a:rPr>
              <a:t>: số lần hoạt động thành công và thất bại ở segment seg (bắt đầu từ 1)</a:t>
            </a:r>
            <a:endParaRPr lang="en-US" sz="1200" dirty="0"/>
          </a:p>
        </p:txBody>
      </p:sp>
      <p:sp>
        <p:nvSpPr>
          <p:cNvPr id="20" name="Text 18"/>
          <p:cNvSpPr/>
          <p:nvPr/>
        </p:nvSpPr>
        <p:spPr>
          <a:xfrm>
            <a:off x="6423521" y="3587155"/>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theta</a:t>
            </a:r>
            <a:r>
              <a:rPr lang="en-US" sz="1200" dirty="0">
                <a:solidFill>
                  <a:srgbClr val="1B1F2A"/>
                </a:solidFill>
                <a:latin typeface="Arial" pitchFamily="34" charset="0"/>
                <a:ea typeface="Arial" pitchFamily="34" charset="-122"/>
                <a:cs typeface="Arial" pitchFamily="34" charset="-120"/>
              </a:rPr>
              <a:t>: xác suất thành công lấy ngẫu nhiên từ phân phối Beta(alpha, beta): vừa khai thác điều đã biết, vừa thử điều mới</a:t>
            </a:r>
            <a:endParaRPr lang="en-US" sz="1200" dirty="0"/>
          </a:p>
        </p:txBody>
      </p:sp>
      <p:sp>
        <p:nvSpPr>
          <p:cNvPr id="21" name="Text 19"/>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14/22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6F4EF"/>
                </a:solidFill>
                <a:latin typeface="Georgia" pitchFamily="18" charset="0"/>
                <a:ea typeface="Georgia" pitchFamily="18" charset="-122"/>
                <a:cs typeface="Georgia" pitchFamily="18" charset="-120"/>
              </a:rPr>
              <a:t>Cổng kiểm soát và đạo đức</a:t>
            </a:r>
            <a:endParaRPr lang="en-US" sz="2800" dirty="0"/>
          </a:p>
        </p:txBody>
      </p:sp>
      <p:sp>
        <p:nvSpPr>
          <p:cNvPr id="3" name="Shape 1"/>
          <p:cNvSpPr/>
          <p:nvPr/>
        </p:nvSpPr>
        <p:spPr>
          <a:xfrm>
            <a:off x="812800" y="1407120"/>
            <a:ext cx="5248771" cy="1335980"/>
          </a:xfrm>
          <a:prstGeom prst="roundRect">
            <a:avLst>
              <a:gd name="adj" fmla="val 7605"/>
            </a:avLst>
          </a:prstGeom>
          <a:solidFill>
            <a:srgbClr val="2A3040"/>
          </a:solidFill>
          <a:ln/>
        </p:spPr>
      </p:sp>
      <p:sp>
        <p:nvSpPr>
          <p:cNvPr id="4" name="Text 2"/>
          <p:cNvSpPr/>
          <p:nvPr/>
        </p:nvSpPr>
        <p:spPr>
          <a:xfrm>
            <a:off x="990600" y="1584920"/>
            <a:ext cx="5039966" cy="188813"/>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def guardrail(action, conf):</a:t>
            </a:r>
            <a:endParaRPr lang="en-US" sz="880" dirty="0"/>
          </a:p>
        </p:txBody>
      </p:sp>
      <p:sp>
        <p:nvSpPr>
          <p:cNvPr id="5" name="Text 3"/>
          <p:cNvSpPr/>
          <p:nvPr/>
        </p:nvSpPr>
        <p:spPr>
          <a:xfrm>
            <a:off x="990600" y="1748334"/>
            <a:ext cx="5039966" cy="188714"/>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  if action.targets &amp; PROTECTED:</a:t>
            </a:r>
            <a:endParaRPr lang="en-US" sz="880" dirty="0"/>
          </a:p>
        </p:txBody>
      </p:sp>
      <p:sp>
        <p:nvSpPr>
          <p:cNvPr id="6" name="Text 4"/>
          <p:cNvSpPr/>
          <p:nvPr/>
        </p:nvSpPr>
        <p:spPr>
          <a:xfrm>
            <a:off x="990600" y="1911648"/>
            <a:ext cx="5039966" cy="188813"/>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    return 'block'</a:t>
            </a:r>
            <a:endParaRPr lang="en-US" sz="880" dirty="0"/>
          </a:p>
        </p:txBody>
      </p:sp>
      <p:sp>
        <p:nvSpPr>
          <p:cNvPr id="7" name="Text 5"/>
          <p:cNvSpPr/>
          <p:nvPr/>
        </p:nvSpPr>
        <p:spPr>
          <a:xfrm>
            <a:off x="990600" y="2075061"/>
            <a:ext cx="5039966" cy="188813"/>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  if action.risk &gt; R_MAX or conf &lt; TAU:</a:t>
            </a:r>
            <a:endParaRPr lang="en-US" sz="880" dirty="0"/>
          </a:p>
        </p:txBody>
      </p:sp>
      <p:sp>
        <p:nvSpPr>
          <p:cNvPr id="8" name="Text 6"/>
          <p:cNvSpPr/>
          <p:nvPr/>
        </p:nvSpPr>
        <p:spPr>
          <a:xfrm>
            <a:off x="990600" y="2238474"/>
            <a:ext cx="5039966" cy="188813"/>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    return 'human_review'</a:t>
            </a:r>
            <a:endParaRPr lang="en-US" sz="880" dirty="0"/>
          </a:p>
        </p:txBody>
      </p:sp>
      <p:sp>
        <p:nvSpPr>
          <p:cNvPr id="9" name="Text 7"/>
          <p:cNvSpPr/>
          <p:nvPr/>
        </p:nvSpPr>
        <p:spPr>
          <a:xfrm>
            <a:off x="990600" y="2401888"/>
            <a:ext cx="5039966" cy="188813"/>
          </a:xfrm>
          <a:prstGeom prst="rect">
            <a:avLst/>
          </a:prstGeom>
          <a:noFill/>
          <a:ln/>
        </p:spPr>
        <p:txBody>
          <a:bodyPr wrap="square" lIns="0" tIns="0" rIns="0" bIns="0" rtlCol="0" anchor="t">
            <a:normAutofit/>
          </a:bodyPr>
          <a:lstStyle/>
          <a:p>
            <a:pPr algn="l" indent="0" marL="0">
              <a:lnSpc>
                <a:spcPts val="1320"/>
              </a:lnSpc>
              <a:buNone/>
            </a:pPr>
            <a:r>
              <a:rPr lang="en-US" sz="880" dirty="0">
                <a:solidFill>
                  <a:srgbClr val="E8E6DF"/>
                </a:solidFill>
                <a:latin typeface="Courier New" pitchFamily="49" charset="0"/>
                <a:ea typeface="Courier New" pitchFamily="49" charset="-122"/>
                <a:cs typeface="Courier New" pitchFamily="49" charset="-120"/>
              </a:rPr>
              <a:t>  return 'auto_approve'</a:t>
            </a:r>
            <a:endParaRPr lang="en-US" sz="880" dirty="0"/>
          </a:p>
        </p:txBody>
      </p:sp>
      <p:sp>
        <p:nvSpPr>
          <p:cNvPr id="10" name="Shape 8"/>
          <p:cNvSpPr/>
          <p:nvPr/>
        </p:nvSpPr>
        <p:spPr>
          <a:xfrm>
            <a:off x="815975" y="2898676"/>
            <a:ext cx="5242421" cy="1342330"/>
          </a:xfrm>
          <a:prstGeom prst="roundRect">
            <a:avLst>
              <a:gd name="adj" fmla="val 7332"/>
            </a:avLst>
          </a:prstGeom>
          <a:solidFill>
            <a:srgbClr val="2A3040"/>
          </a:solidFill>
          <a:ln w="6350">
            <a:solidFill>
              <a:srgbClr val="DDD9CF"/>
            </a:solidFill>
            <a:prstDash val="solid"/>
          </a:ln>
        </p:spPr>
      </p:sp>
      <p:sp>
        <p:nvSpPr>
          <p:cNvPr id="11" name="Text 9"/>
          <p:cNvSpPr/>
          <p:nvPr/>
        </p:nvSpPr>
        <p:spPr>
          <a:xfrm>
            <a:off x="996950" y="3079651"/>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EC4C6"/>
                </a:solidFill>
                <a:latin typeface="Arial" pitchFamily="34" charset="0"/>
                <a:ea typeface="Arial" pitchFamily="34" charset="-122"/>
                <a:cs typeface="Arial" pitchFamily="34" charset="-120"/>
              </a:rPr>
              <a:t>Kết quả trong mô phỏng</a:t>
            </a:r>
            <a:endParaRPr lang="en-US" sz="1500" dirty="0"/>
          </a:p>
        </p:txBody>
      </p:sp>
      <p:sp>
        <p:nvSpPr>
          <p:cNvPr id="12" name="Text 10"/>
          <p:cNvSpPr/>
          <p:nvPr/>
        </p:nvSpPr>
        <p:spPr>
          <a:xfrm>
            <a:off x="996950" y="3371751"/>
            <a:ext cx="502688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4EF"/>
                </a:solidFill>
                <a:latin typeface="Arial" pitchFamily="34" charset="0"/>
                <a:ea typeface="Arial" pitchFamily="34" charset="-122"/>
                <a:cs typeface="Arial" pitchFamily="34" charset="-120"/>
              </a:rPr>
              <a:t>Tối ưu thuần túy sẽ chọn hoạt động gây áp lực, xấu hổ ở 831 lượt vì điểm ngắn hạn cao nhất. Cổng kiểm soát loại hết các lượt đó.</a:t>
            </a:r>
            <a:endParaRPr lang="en-US" sz="1200" dirty="0"/>
          </a:p>
        </p:txBody>
      </p:sp>
      <p:sp>
        <p:nvSpPr>
          <p:cNvPr id="13" name="Shape 11"/>
          <p:cNvSpPr/>
          <p:nvPr/>
        </p:nvSpPr>
        <p:spPr>
          <a:xfrm>
            <a:off x="6242546" y="1410295"/>
            <a:ext cx="5133479" cy="2830711"/>
          </a:xfrm>
          <a:prstGeom prst="roundRect">
            <a:avLst>
              <a:gd name="adj" fmla="val 3477"/>
            </a:avLst>
          </a:prstGeom>
          <a:solidFill>
            <a:srgbClr val="2A3040"/>
          </a:solidFill>
          <a:ln w="6350">
            <a:solidFill>
              <a:srgbClr val="DDD9CF"/>
            </a:solidFill>
            <a:prstDash val="solid"/>
          </a:ln>
        </p:spPr>
      </p:sp>
      <p:sp>
        <p:nvSpPr>
          <p:cNvPr id="14" name="Text 12"/>
          <p:cNvSpPr/>
          <p:nvPr/>
        </p:nvSpPr>
        <p:spPr>
          <a:xfrm>
            <a:off x="6423521" y="1591270"/>
            <a:ext cx="49146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5EC4C6"/>
                </a:solidFill>
                <a:latin typeface="Arial" pitchFamily="34" charset="0"/>
                <a:ea typeface="Arial" pitchFamily="34" charset="-122"/>
                <a:cs typeface="Arial" pitchFamily="34" charset="-120"/>
              </a:rPr>
              <a:t>Giải thích ký hiệu</a:t>
            </a:r>
            <a:endParaRPr lang="en-US" sz="1500" dirty="0"/>
          </a:p>
        </p:txBody>
      </p:sp>
      <p:sp>
        <p:nvSpPr>
          <p:cNvPr id="15" name="Text 13"/>
          <p:cNvSpPr/>
          <p:nvPr/>
        </p:nvSpPr>
        <p:spPr>
          <a:xfrm>
            <a:off x="6423521" y="1883370"/>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PROTECTED</a:t>
            </a:r>
            <a:r>
              <a:rPr lang="en-US" sz="1200" dirty="0">
                <a:solidFill>
                  <a:srgbClr val="F6F4EF"/>
                </a:solidFill>
                <a:latin typeface="Arial" pitchFamily="34" charset="0"/>
                <a:ea typeface="Arial" pitchFamily="34" charset="-122"/>
                <a:cs typeface="Arial" pitchFamily="34" charset="-120"/>
              </a:rPr>
              <a:t>: chiều không được tác động trực tiếp: V (động lực) và E (tự tin)</a:t>
            </a:r>
            <a:endParaRPr lang="en-US" sz="1200" dirty="0"/>
          </a:p>
        </p:txBody>
      </p:sp>
      <p:sp>
        <p:nvSpPr>
          <p:cNvPr id="16" name="Text 14"/>
          <p:cNvSpPr/>
          <p:nvPr/>
        </p:nvSpPr>
        <p:spPr>
          <a:xfrm>
            <a:off x="6423521" y="234295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action.targets</a:t>
            </a:r>
            <a:r>
              <a:rPr lang="en-US" sz="1200" dirty="0">
                <a:solidFill>
                  <a:srgbClr val="F6F4EF"/>
                </a:solidFill>
                <a:latin typeface="Arial" pitchFamily="34" charset="0"/>
                <a:ea typeface="Arial" pitchFamily="34" charset="-122"/>
                <a:cs typeface="Arial" pitchFamily="34" charset="-120"/>
              </a:rPr>
              <a:t>: các chiều mà hoạt động nhắm tới</a:t>
            </a:r>
            <a:endParaRPr lang="en-US" sz="1200" dirty="0"/>
          </a:p>
        </p:txBody>
      </p:sp>
      <p:sp>
        <p:nvSpPr>
          <p:cNvPr id="17" name="Text 15"/>
          <p:cNvSpPr/>
          <p:nvPr/>
        </p:nvSpPr>
        <p:spPr>
          <a:xfrm>
            <a:off x="6423521" y="2604492"/>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risk</a:t>
            </a:r>
            <a:r>
              <a:rPr lang="en-US" sz="1200" dirty="0">
                <a:solidFill>
                  <a:srgbClr val="F6F4EF"/>
                </a:solidFill>
                <a:latin typeface="Arial" pitchFamily="34" charset="0"/>
                <a:ea typeface="Arial" pitchFamily="34" charset="-122"/>
                <a:cs typeface="Arial" pitchFamily="34" charset="-120"/>
              </a:rPr>
              <a:t>: rủi ro ước lượng của hoạt động, từ 0 đến 1</a:t>
            </a:r>
            <a:endParaRPr lang="en-US" sz="1200" dirty="0"/>
          </a:p>
        </p:txBody>
      </p:sp>
      <p:sp>
        <p:nvSpPr>
          <p:cNvPr id="18" name="Text 16"/>
          <p:cNvSpPr/>
          <p:nvPr/>
        </p:nvSpPr>
        <p:spPr>
          <a:xfrm>
            <a:off x="6423521" y="286603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R_MAX = 0.5</a:t>
            </a:r>
            <a:r>
              <a:rPr lang="en-US" sz="1200" dirty="0">
                <a:solidFill>
                  <a:srgbClr val="F6F4EF"/>
                </a:solidFill>
                <a:latin typeface="Arial" pitchFamily="34" charset="0"/>
                <a:ea typeface="Arial" pitchFamily="34" charset="-122"/>
                <a:cs typeface="Arial" pitchFamily="34" charset="-120"/>
              </a:rPr>
              <a:t>: rủi ro tối đa để tự động duyệt</a:t>
            </a:r>
            <a:endParaRPr lang="en-US" sz="1200" dirty="0"/>
          </a:p>
        </p:txBody>
      </p:sp>
      <p:sp>
        <p:nvSpPr>
          <p:cNvPr id="19" name="Text 17"/>
          <p:cNvSpPr/>
          <p:nvPr/>
        </p:nvSpPr>
        <p:spPr>
          <a:xfrm>
            <a:off x="6423521" y="312757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conf</a:t>
            </a:r>
            <a:r>
              <a:rPr lang="en-US" sz="1200" dirty="0">
                <a:solidFill>
                  <a:srgbClr val="F6F4EF"/>
                </a:solidFill>
                <a:latin typeface="Arial" pitchFamily="34" charset="0"/>
                <a:ea typeface="Arial" pitchFamily="34" charset="-122"/>
                <a:cs typeface="Arial" pitchFamily="34" charset="-120"/>
              </a:rPr>
              <a:t>: độ tin cậy của ước lượng persona, từ 0 đến 1 (suy ra từ S)</a:t>
            </a:r>
            <a:endParaRPr lang="en-US" sz="1200" dirty="0"/>
          </a:p>
        </p:txBody>
      </p:sp>
      <p:sp>
        <p:nvSpPr>
          <p:cNvPr id="20" name="Text 18"/>
          <p:cNvSpPr/>
          <p:nvPr/>
        </p:nvSpPr>
        <p:spPr>
          <a:xfrm>
            <a:off x="6423521" y="3389114"/>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TAU = 0.65</a:t>
            </a:r>
            <a:r>
              <a:rPr lang="en-US" sz="1200" dirty="0">
                <a:solidFill>
                  <a:srgbClr val="F6F4EF"/>
                </a:solidFill>
                <a:latin typeface="Arial" pitchFamily="34" charset="0"/>
                <a:ea typeface="Arial" pitchFamily="34" charset="-122"/>
                <a:cs typeface="Arial" pitchFamily="34" charset="-120"/>
              </a:rPr>
              <a:t>: độ tin cậy tối thiểu</a:t>
            </a:r>
            <a:endParaRPr lang="en-US" sz="1200" dirty="0"/>
          </a:p>
        </p:txBody>
      </p:sp>
      <p:sp>
        <p:nvSpPr>
          <p:cNvPr id="21" name="Text 19"/>
          <p:cNvSpPr/>
          <p:nvPr/>
        </p:nvSpPr>
        <p:spPr>
          <a:xfrm>
            <a:off x="6423521" y="3650655"/>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EC4C6"/>
                </a:solidFill>
                <a:latin typeface="Arial" pitchFamily="34" charset="0"/>
                <a:ea typeface="Arial" pitchFamily="34" charset="-122"/>
                <a:cs typeface="Arial" pitchFamily="34" charset="-120"/>
              </a:rPr>
              <a:t>block, human_review, auto_approve</a:t>
            </a:r>
            <a:r>
              <a:rPr lang="en-US" sz="1200" dirty="0">
                <a:solidFill>
                  <a:srgbClr val="F6F4EF"/>
                </a:solidFill>
                <a:latin typeface="Arial" pitchFamily="34" charset="0"/>
                <a:ea typeface="Arial" pitchFamily="34" charset="-122"/>
                <a:cs typeface="Arial" pitchFamily="34" charset="-120"/>
              </a:rPr>
              <a:t>: chặn, chuyển cho người duyệt, tự động duyệt</a:t>
            </a:r>
            <a:endParaRPr lang="en-US" sz="1200" dirty="0"/>
          </a:p>
        </p:txBody>
      </p:sp>
      <p:sp>
        <p:nvSpPr>
          <p:cNvPr id="22" name="Text 20"/>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DB6"/>
                </a:solidFill>
                <a:latin typeface="Arial" pitchFamily="34" charset="0"/>
                <a:ea typeface="Arial" pitchFamily="34" charset="-122"/>
                <a:cs typeface="Arial" pitchFamily="34" charset="-120"/>
              </a:rPr>
              <a:t>Persona as a Vector | 15/22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Kết quả mô phỏng 8 tuần (300 người học)</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2600821"/>
        </p:xfrm>
        <a:graphic>
          <a:graphicData uri="http://schemas.openxmlformats.org/drawingml/2006/table">
            <a:tbl>
              <a:tblPr/>
              <a:tblGrid>
                <a:gridCol w="2110740"/>
                <a:gridCol w="2110740"/>
                <a:gridCol w="2110740"/>
                <a:gridCol w="2110740"/>
                <a:gridCol w="2110740"/>
              </a:tblGrid>
              <a:tr h="436860">
                <a:tc>
                  <a:txBody>
                    <a:bodyPr/>
                    <a:lstStyle/>
                    <a:p>
                      <a:pPr indent="0" marL="0">
                        <a:lnSpc>
                          <a:spcPts val="2240"/>
                        </a:lnSpc>
                        <a:buNone/>
                      </a:pPr>
                      <a:r>
                        <a:rPr lang="en-US" sz="1600" b="1" dirty="0">
                          <a:solidFill>
                            <a:srgbClr val="0F8B8D"/>
                          </a:solidFill>
                          <a:latin typeface="Arial" pitchFamily="34" charset="0"/>
                          <a:ea typeface="Arial" pitchFamily="34" charset="-122"/>
                          <a:cs typeface="Arial" pitchFamily="34" charset="-120"/>
                        </a:rPr>
                        <a:t>Nhánh</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0F8B8D"/>
                          </a:solidFill>
                          <a:latin typeface="Arial" pitchFamily="34" charset="0"/>
                          <a:ea typeface="Arial" pitchFamily="34" charset="-122"/>
                          <a:cs typeface="Arial" pitchFamily="34" charset="-120"/>
                        </a:rPr>
                        <a:t>TG đầu</a:t>
                      </a:r>
                      <a:endParaRPr lang="en-US" sz="160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0F8B8D"/>
                          </a:solidFill>
                          <a:latin typeface="Arial" pitchFamily="34" charset="0"/>
                          <a:ea typeface="Arial" pitchFamily="34" charset="-122"/>
                          <a:cs typeface="Arial" pitchFamily="34" charset="-120"/>
                        </a:rPr>
                        <a:t>TG cuối</a:t>
                      </a:r>
                      <a:endParaRPr lang="en-US" sz="160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0F8B8D"/>
                          </a:solidFill>
                          <a:latin typeface="Arial" pitchFamily="34" charset="0"/>
                          <a:ea typeface="Arial" pitchFamily="34" charset="-122"/>
                          <a:cs typeface="Arial" pitchFamily="34" charset="-120"/>
                        </a:rPr>
                        <a:t>TV mỗi tuần</a:t>
                      </a:r>
                      <a:endParaRPr lang="en-US" sz="160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2240"/>
                        </a:lnSpc>
                        <a:buNone/>
                      </a:pPr>
                      <a:r>
                        <a:rPr lang="en-US" sz="1600" b="1" dirty="0">
                          <a:solidFill>
                            <a:srgbClr val="0F8B8D"/>
                          </a:solidFill>
                          <a:latin typeface="Arial" pitchFamily="34" charset="0"/>
                          <a:ea typeface="Arial" pitchFamily="34" charset="-122"/>
                          <a:cs typeface="Arial" pitchFamily="34" charset="-120"/>
                        </a:rPr>
                        <a:t>PAS cuối</a:t>
                      </a:r>
                      <a:endParaRPr lang="en-US" sz="160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72132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Đối chứng: không can thiệp</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0.727</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0.673</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0.007</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0.699</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2132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Chung: ai cũng nhận bài 5 phút</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0.727</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0.504</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0.028</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0.774</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21320">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NBTA: cá nhân hóa theo persona</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0.727</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0.470</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0.032</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B1F2A"/>
                          </a:solidFill>
                          <a:latin typeface="Arial" pitchFamily="34" charset="0"/>
                          <a:ea typeface="Arial" pitchFamily="34" charset="-122"/>
                          <a:cs typeface="Arial" pitchFamily="34" charset="-120"/>
                        </a:rPr>
                        <a:t>0.790</a:t>
                      </a:r>
                      <a:endParaRPr lang="en-US" sz="160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Shape 1"/>
          <p:cNvSpPr/>
          <p:nvPr/>
        </p:nvSpPr>
        <p:spPr>
          <a:xfrm>
            <a:off x="815975" y="4265613"/>
            <a:ext cx="5187950" cy="1573213"/>
          </a:xfrm>
          <a:prstGeom prst="roundRect">
            <a:avLst>
              <a:gd name="adj" fmla="val 6256"/>
            </a:avLst>
          </a:prstGeom>
          <a:solidFill>
            <a:srgbClr val="FFFFFF"/>
          </a:solidFill>
          <a:ln w="6350">
            <a:solidFill>
              <a:srgbClr val="DDD9CF"/>
            </a:solidFill>
            <a:prstDash val="solid"/>
          </a:ln>
        </p:spPr>
      </p:sp>
      <p:sp>
        <p:nvSpPr>
          <p:cNvPr id="5" name="Text 2"/>
          <p:cNvSpPr/>
          <p:nvPr/>
        </p:nvSpPr>
        <p:spPr>
          <a:xfrm>
            <a:off x="996950" y="4446588"/>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6" name="Text 3"/>
          <p:cNvSpPr/>
          <p:nvPr/>
        </p:nvSpPr>
        <p:spPr>
          <a:xfrm>
            <a:off x="996950" y="4738688"/>
            <a:ext cx="497078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TG</a:t>
            </a:r>
            <a:r>
              <a:rPr lang="en-US" sz="1200" dirty="0">
                <a:solidFill>
                  <a:srgbClr val="1B1F2A"/>
                </a:solidFill>
                <a:latin typeface="Arial" pitchFamily="34" charset="0"/>
                <a:ea typeface="Arial" pitchFamily="34" charset="-122"/>
                <a:cs typeface="Arial" pitchFamily="34" charset="-120"/>
              </a:rPr>
              <a:t>: Transformation Gap (slide 10), càng thấp càng tốt</a:t>
            </a:r>
            <a:endParaRPr lang="en-US" sz="1200" dirty="0"/>
          </a:p>
        </p:txBody>
      </p:sp>
      <p:sp>
        <p:nvSpPr>
          <p:cNvPr id="7" name="Text 4"/>
          <p:cNvSpPr/>
          <p:nvPr/>
        </p:nvSpPr>
        <p:spPr>
          <a:xfrm>
            <a:off x="996950" y="5000228"/>
            <a:ext cx="497078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TV</a:t>
            </a:r>
            <a:r>
              <a:rPr lang="en-US" sz="1200" dirty="0">
                <a:solidFill>
                  <a:srgbClr val="1B1F2A"/>
                </a:solidFill>
                <a:latin typeface="Arial" pitchFamily="34" charset="0"/>
                <a:ea typeface="Arial" pitchFamily="34" charset="-122"/>
                <a:cs typeface="Arial" pitchFamily="34" charset="-120"/>
              </a:rPr>
              <a:t>: Transformation Velocity (tốc độ chuyển hóa): mức TG giảm trung bình mỗi tuần</a:t>
            </a:r>
            <a:endParaRPr lang="en-US" sz="1200" dirty="0"/>
          </a:p>
        </p:txBody>
      </p:sp>
      <p:sp>
        <p:nvSpPr>
          <p:cNvPr id="8" name="Text 5"/>
          <p:cNvSpPr/>
          <p:nvPr/>
        </p:nvSpPr>
        <p:spPr>
          <a:xfrm>
            <a:off x="996950" y="5459809"/>
            <a:ext cx="497078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PAS</a:t>
            </a:r>
            <a:r>
              <a:rPr lang="en-US" sz="1200" dirty="0">
                <a:solidFill>
                  <a:srgbClr val="1B1F2A"/>
                </a:solidFill>
                <a:latin typeface="Arial" pitchFamily="34" charset="0"/>
                <a:ea typeface="Arial" pitchFamily="34" charset="-122"/>
                <a:cs typeface="Arial" pitchFamily="34" charset="-120"/>
              </a:rPr>
              <a:t>: Persona Alignment Score (slide 10), càng cao càng tốt</a:t>
            </a:r>
            <a:endParaRPr lang="en-US" sz="1200" dirty="0"/>
          </a:p>
        </p:txBody>
      </p:sp>
      <p:sp>
        <p:nvSpPr>
          <p:cNvPr id="9" name="Shape 6"/>
          <p:cNvSpPr/>
          <p:nvPr/>
        </p:nvSpPr>
        <p:spPr>
          <a:xfrm>
            <a:off x="6188075" y="4265613"/>
            <a:ext cx="5187950" cy="1573213"/>
          </a:xfrm>
          <a:prstGeom prst="roundRect">
            <a:avLst>
              <a:gd name="adj" fmla="val 6256"/>
            </a:avLst>
          </a:prstGeom>
          <a:solidFill>
            <a:srgbClr val="FFFFFF"/>
          </a:solidFill>
          <a:ln w="6350">
            <a:solidFill>
              <a:srgbClr val="DDD9CF"/>
            </a:solidFill>
            <a:prstDash val="solid"/>
          </a:ln>
        </p:spPr>
      </p:sp>
      <p:sp>
        <p:nvSpPr>
          <p:cNvPr id="10" name="Text 7"/>
          <p:cNvSpPr/>
          <p:nvPr/>
        </p:nvSpPr>
        <p:spPr>
          <a:xfrm>
            <a:off x="6369050" y="4446588"/>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Cách đọc</a:t>
            </a:r>
            <a:endParaRPr lang="en-US" sz="1500" dirty="0"/>
          </a:p>
        </p:txBody>
      </p:sp>
      <p:sp>
        <p:nvSpPr>
          <p:cNvPr id="11" name="Text 8"/>
          <p:cNvSpPr/>
          <p:nvPr/>
        </p:nvSpPr>
        <p:spPr>
          <a:xfrm>
            <a:off x="6369050" y="4738688"/>
            <a:ext cx="497078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NBTA giảm TG nhiều nhất, nhưng ở vài tuần đầu chậm hơn nhánh Chung vì còn thử nghiệm. Đây là dữ liệu mô phỏng (seed 42), không phải bằng chứng thực nghiệm.</a:t>
            </a:r>
            <a:endParaRPr lang="en-US" sz="1200" dirty="0"/>
          </a:p>
        </p:txBody>
      </p:sp>
      <p:sp>
        <p:nvSpPr>
          <p:cNvPr id="12" name="Text 9"/>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16/22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Lộ trình theo tuần và biểu đồ radar</a:t>
            </a:r>
            <a:endParaRPr lang="en-US" sz="2800" dirty="0"/>
          </a:p>
        </p:txBody>
      </p:sp>
      <p:sp>
        <p:nvSpPr>
          <p:cNvPr id="3" name="Shape 1"/>
          <p:cNvSpPr/>
          <p:nvPr/>
        </p:nvSpPr>
        <p:spPr>
          <a:xfrm>
            <a:off x="815975" y="1410295"/>
            <a:ext cx="5242421" cy="1099542"/>
          </a:xfrm>
          <a:prstGeom prst="roundRect">
            <a:avLst>
              <a:gd name="adj" fmla="val 8951"/>
            </a:avLst>
          </a:prstGeom>
          <a:solidFill>
            <a:srgbClr val="FFFFFF"/>
          </a:solidFill>
          <a:ln w="6350">
            <a:solidFill>
              <a:srgbClr val="DDD9CF"/>
            </a:solidFill>
            <a:prstDash val="solid"/>
          </a:ln>
        </p:spPr>
      </p:sp>
      <p:sp>
        <p:nvSpPr>
          <p:cNvPr id="4" name="Text 2"/>
          <p:cNvSpPr/>
          <p:nvPr/>
        </p:nvSpPr>
        <p:spPr>
          <a:xfrm>
            <a:off x="996950" y="1591270"/>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Công thức chiếu tới trước</a:t>
            </a:r>
            <a:endParaRPr lang="en-US" sz="1500" dirty="0"/>
          </a:p>
        </p:txBody>
      </p:sp>
      <p:sp>
        <p:nvSpPr>
          <p:cNvPr id="5" name="Text 3"/>
          <p:cNvSpPr/>
          <p:nvPr/>
        </p:nvSpPr>
        <p:spPr>
          <a:xfrm>
            <a:off x="996950" y="1883370"/>
            <a:ext cx="50582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2A"/>
                </a:solidFill>
                <a:latin typeface="Courier New" pitchFamily="49" charset="0"/>
                <a:ea typeface="Courier New" pitchFamily="49" charset="-122"/>
                <a:cs typeface="Courier New" pitchFamily="49" charset="-120"/>
              </a:rPr>
              <a:t>P(w+1) = P(w) + λ · e_a · (P* − P(w)) · r_a · fatigue</a:t>
            </a:r>
            <a:endParaRPr lang="en-US" sz="1200" dirty="0"/>
          </a:p>
        </p:txBody>
      </p:sp>
      <p:sp>
        <p:nvSpPr>
          <p:cNvPr id="6" name="Shape 4"/>
          <p:cNvSpPr/>
          <p:nvPr/>
        </p:nvSpPr>
        <p:spPr>
          <a:xfrm>
            <a:off x="815975" y="2668588"/>
            <a:ext cx="5242421" cy="1099542"/>
          </a:xfrm>
          <a:prstGeom prst="roundRect">
            <a:avLst>
              <a:gd name="adj" fmla="val 8951"/>
            </a:avLst>
          </a:prstGeom>
          <a:solidFill>
            <a:srgbClr val="FFFFFF"/>
          </a:solidFill>
          <a:ln w="6350">
            <a:solidFill>
              <a:srgbClr val="DDD9CF"/>
            </a:solidFill>
            <a:prstDash val="solid"/>
          </a:ln>
        </p:spPr>
      </p:sp>
      <p:sp>
        <p:nvSpPr>
          <p:cNvPr id="7" name="Text 5"/>
          <p:cNvSpPr/>
          <p:nvPr/>
        </p:nvSpPr>
        <p:spPr>
          <a:xfrm>
            <a:off x="996950" y="2849563"/>
            <a:ext cx="5026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Quy tắc lập lại kế hoạch</a:t>
            </a:r>
            <a:endParaRPr lang="en-US" sz="1500" dirty="0"/>
          </a:p>
        </p:txBody>
      </p:sp>
      <p:sp>
        <p:nvSpPr>
          <p:cNvPr id="8" name="Text 6"/>
          <p:cNvSpPr/>
          <p:nvPr/>
        </p:nvSpPr>
        <p:spPr>
          <a:xfrm>
            <a:off x="996950" y="3141663"/>
            <a:ext cx="502688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Nếu TG thực tế vượt TG kế hoạch quá ngưỡng 2 tuần liền thì lập lại lộ trình. Ngưỡng bằng 2 lần độ lệch chuẩn của TG theo bộ lọc.</a:t>
            </a:r>
            <a:endParaRPr lang="en-US" sz="1200" dirty="0"/>
          </a:p>
        </p:txBody>
      </p:sp>
      <p:sp>
        <p:nvSpPr>
          <p:cNvPr id="9" name="Shape 7"/>
          <p:cNvSpPr/>
          <p:nvPr/>
        </p:nvSpPr>
        <p:spPr>
          <a:xfrm>
            <a:off x="6242546" y="1410295"/>
            <a:ext cx="5133479" cy="2357834"/>
          </a:xfrm>
          <a:prstGeom prst="roundRect">
            <a:avLst>
              <a:gd name="adj" fmla="val 4174"/>
            </a:avLst>
          </a:prstGeom>
          <a:solidFill>
            <a:srgbClr val="FFFFFF"/>
          </a:solidFill>
          <a:ln w="6350">
            <a:solidFill>
              <a:srgbClr val="DDD9CF"/>
            </a:solidFill>
            <a:prstDash val="solid"/>
          </a:ln>
        </p:spPr>
      </p:sp>
      <p:sp>
        <p:nvSpPr>
          <p:cNvPr id="10" name="Text 8"/>
          <p:cNvSpPr/>
          <p:nvPr/>
        </p:nvSpPr>
        <p:spPr>
          <a:xfrm>
            <a:off x="6423521" y="1591270"/>
            <a:ext cx="49146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Giải thích ký hiệu</a:t>
            </a:r>
            <a:endParaRPr lang="en-US" sz="1500" dirty="0"/>
          </a:p>
        </p:txBody>
      </p:sp>
      <p:sp>
        <p:nvSpPr>
          <p:cNvPr id="11" name="Text 9"/>
          <p:cNvSpPr/>
          <p:nvPr/>
        </p:nvSpPr>
        <p:spPr>
          <a:xfrm>
            <a:off x="6423521" y="1883370"/>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w</a:t>
            </a:r>
            <a:r>
              <a:rPr lang="en-US" sz="1200" dirty="0">
                <a:solidFill>
                  <a:srgbClr val="1B1F2A"/>
                </a:solidFill>
                <a:latin typeface="Arial" pitchFamily="34" charset="0"/>
                <a:ea typeface="Arial" pitchFamily="34" charset="-122"/>
                <a:cs typeface="Arial" pitchFamily="34" charset="-120"/>
              </a:rPr>
              <a:t>: số thứ tự tuần</a:t>
            </a:r>
            <a:endParaRPr lang="en-US" sz="1200" dirty="0"/>
          </a:p>
        </p:txBody>
      </p:sp>
      <p:sp>
        <p:nvSpPr>
          <p:cNvPr id="12" name="Text 10"/>
          <p:cNvSpPr/>
          <p:nvPr/>
        </p:nvSpPr>
        <p:spPr>
          <a:xfrm>
            <a:off x="6423521" y="2144911"/>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λ (lambda) = 0.35</a:t>
            </a:r>
            <a:r>
              <a:rPr lang="en-US" sz="1200" dirty="0">
                <a:solidFill>
                  <a:srgbClr val="1B1F2A"/>
                </a:solidFill>
                <a:latin typeface="Arial" pitchFamily="34" charset="0"/>
                <a:ea typeface="Arial" pitchFamily="34" charset="-122"/>
                <a:cs typeface="Arial" pitchFamily="34" charset="-120"/>
              </a:rPr>
              <a:t>: tốc độ tiến về mục tiêu khi hoạt động hiệu quả</a:t>
            </a:r>
            <a:endParaRPr lang="en-US" sz="1200" dirty="0"/>
          </a:p>
        </p:txBody>
      </p:sp>
      <p:sp>
        <p:nvSpPr>
          <p:cNvPr id="13" name="Text 11"/>
          <p:cNvSpPr/>
          <p:nvPr/>
        </p:nvSpPr>
        <p:spPr>
          <a:xfrm>
            <a:off x="6423521" y="2406452"/>
            <a:ext cx="4914675"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e_a</a:t>
            </a:r>
            <a:r>
              <a:rPr lang="en-US" sz="1200" dirty="0">
                <a:solidFill>
                  <a:srgbClr val="1B1F2A"/>
                </a:solidFill>
                <a:latin typeface="Arial" pitchFamily="34" charset="0"/>
                <a:ea typeface="Arial" pitchFamily="34" charset="-122"/>
                <a:cs typeface="Arial" pitchFamily="34" charset="-120"/>
              </a:rPr>
              <a:t>: hiệu lực của hoạt động a trên từng chiều (bài 5 phút tác động mạnh lên B)</a:t>
            </a:r>
            <a:endParaRPr lang="en-US" sz="1200" dirty="0"/>
          </a:p>
        </p:txBody>
      </p:sp>
      <p:sp>
        <p:nvSpPr>
          <p:cNvPr id="14" name="Text 12"/>
          <p:cNvSpPr/>
          <p:nvPr/>
        </p:nvSpPr>
        <p:spPr>
          <a:xfrm>
            <a:off x="6423521" y="286603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r_a</a:t>
            </a:r>
            <a:r>
              <a:rPr lang="en-US" sz="1200" dirty="0">
                <a:solidFill>
                  <a:srgbClr val="1B1F2A"/>
                </a:solidFill>
                <a:latin typeface="Arial" pitchFamily="34" charset="0"/>
                <a:ea typeface="Arial" pitchFamily="34" charset="-122"/>
                <a:cs typeface="Arial" pitchFamily="34" charset="-120"/>
              </a:rPr>
              <a:t>: độ phù hợp của hoạt động a với segment, học từ phản hồi</a:t>
            </a:r>
            <a:endParaRPr lang="en-US" sz="1200" dirty="0"/>
          </a:p>
        </p:txBody>
      </p:sp>
      <p:sp>
        <p:nvSpPr>
          <p:cNvPr id="15" name="Text 13"/>
          <p:cNvSpPr/>
          <p:nvPr/>
        </p:nvSpPr>
        <p:spPr>
          <a:xfrm>
            <a:off x="6423521" y="3127573"/>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fatigue</a:t>
            </a:r>
            <a:r>
              <a:rPr lang="en-US" sz="1200" dirty="0">
                <a:solidFill>
                  <a:srgbClr val="1B1F2A"/>
                </a:solidFill>
                <a:latin typeface="Arial" pitchFamily="34" charset="0"/>
                <a:ea typeface="Arial" pitchFamily="34" charset="-122"/>
                <a:cs typeface="Arial" pitchFamily="34" charset="-120"/>
              </a:rPr>
              <a:t>: mệt mỏi, hệ số 0.85 mỗi lần lặp liên tiếp cùng hoạt động</a:t>
            </a:r>
            <a:endParaRPr lang="en-US" sz="1200" dirty="0"/>
          </a:p>
        </p:txBody>
      </p:sp>
      <p:sp>
        <p:nvSpPr>
          <p:cNvPr id="16" name="Text 14"/>
          <p:cNvSpPr/>
          <p:nvPr/>
        </p:nvSpPr>
        <p:spPr>
          <a:xfrm>
            <a:off x="6423521" y="3389114"/>
            <a:ext cx="4914675"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F8B8D"/>
                </a:solidFill>
                <a:latin typeface="Arial" pitchFamily="34" charset="0"/>
                <a:ea typeface="Arial" pitchFamily="34" charset="-122"/>
                <a:cs typeface="Arial" pitchFamily="34" charset="-120"/>
              </a:rPr>
              <a:t>Radar</a:t>
            </a:r>
            <a:r>
              <a:rPr lang="en-US" sz="1200" dirty="0">
                <a:solidFill>
                  <a:srgbClr val="1B1F2A"/>
                </a:solidFill>
                <a:latin typeface="Arial" pitchFamily="34" charset="0"/>
                <a:ea typeface="Arial" pitchFamily="34" charset="-122"/>
                <a:cs typeface="Arial" pitchFamily="34" charset="-120"/>
              </a:rPr>
              <a:t>: biểu đồ 7 trục, mỗi trục một chiều; nét đứt là P*</a:t>
            </a:r>
            <a:endParaRPr lang="en-US" sz="1200" dirty="0"/>
          </a:p>
        </p:txBody>
      </p:sp>
      <p:sp>
        <p:nvSpPr>
          <p:cNvPr id="17" name="Text 15"/>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17/22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Ví dụ lộ trình 8 tuần của một người học</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3807619"/>
        </p:xfrm>
        <a:graphic>
          <a:graphicData uri="http://schemas.openxmlformats.org/drawingml/2006/table">
            <a:tbl>
              <a:tblPr/>
              <a:tblGrid>
                <a:gridCol w="2638425"/>
                <a:gridCol w="2638425"/>
                <a:gridCol w="2638425"/>
                <a:gridCol w="2638425"/>
              </a:tblGrid>
              <a:tr h="423069">
                <a:tc>
                  <a:txBody>
                    <a:bodyPr/>
                    <a:lstStyle/>
                    <a:p>
                      <a:pPr indent="0" marL="0">
                        <a:lnSpc>
                          <a:spcPts val="1918"/>
                        </a:lnSpc>
                        <a:buNone/>
                      </a:pPr>
                      <a:r>
                        <a:rPr lang="en-US" sz="1370" b="1" dirty="0">
                          <a:solidFill>
                            <a:srgbClr val="0F8B8D"/>
                          </a:solidFill>
                          <a:latin typeface="Arial" pitchFamily="34" charset="0"/>
                          <a:ea typeface="Arial" pitchFamily="34" charset="-122"/>
                          <a:cs typeface="Arial" pitchFamily="34" charset="-120"/>
                        </a:rPr>
                        <a:t>Tuần</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918"/>
                        </a:lnSpc>
                        <a:buNone/>
                      </a:pPr>
                      <a:r>
                        <a:rPr lang="en-US" sz="1370" b="1" dirty="0">
                          <a:solidFill>
                            <a:srgbClr val="0F8B8D"/>
                          </a:solidFill>
                          <a:latin typeface="Arial" pitchFamily="34" charset="0"/>
                          <a:ea typeface="Arial" pitchFamily="34" charset="-122"/>
                          <a:cs typeface="Arial" pitchFamily="34" charset="-120"/>
                        </a:rPr>
                        <a:t>Hoạt động chính</a:t>
                      </a:r>
                      <a:endParaRPr lang="en-US" sz="137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918"/>
                        </a:lnSpc>
                        <a:buNone/>
                      </a:pPr>
                      <a:r>
                        <a:rPr lang="en-US" sz="1370" b="1" dirty="0">
                          <a:solidFill>
                            <a:srgbClr val="0F8B8D"/>
                          </a:solidFill>
                          <a:latin typeface="Arial" pitchFamily="34" charset="0"/>
                          <a:ea typeface="Arial" pitchFamily="34" charset="-122"/>
                          <a:cs typeface="Arial" pitchFamily="34" charset="-120"/>
                        </a:rPr>
                        <a:t>TG kế hoạch</a:t>
                      </a:r>
                      <a:endParaRPr lang="en-US" sz="137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918"/>
                        </a:lnSpc>
                        <a:buNone/>
                      </a:pPr>
                      <a:r>
                        <a:rPr lang="en-US" sz="1370" b="1" dirty="0">
                          <a:solidFill>
                            <a:srgbClr val="0F8B8D"/>
                          </a:solidFill>
                          <a:latin typeface="Arial" pitchFamily="34" charset="0"/>
                          <a:ea typeface="Arial" pitchFamily="34" charset="-122"/>
                          <a:cs typeface="Arial" pitchFamily="34" charset="-120"/>
                        </a:rPr>
                        <a:t>PAS kế hoạch</a:t>
                      </a:r>
                      <a:endParaRPr lang="en-US" sz="137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1</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0.692</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0.691</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2</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0.641</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0.713</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3</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Ôn từ vựng cách quãng</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0.616</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0.724</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4</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0.568</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0.746</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5</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0.532</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0.762</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6</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Lập kế hoạch mục tiêu cá nhân</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0.510</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0.772</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7</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0.475</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0.787</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3069">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8</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Bài học 5 phút mỗi ngày</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0.449</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918"/>
                        </a:lnSpc>
                        <a:buNone/>
                      </a:pPr>
                      <a:r>
                        <a:rPr lang="en-US" sz="1370" dirty="0">
                          <a:solidFill>
                            <a:srgbClr val="1B1F2A"/>
                          </a:solidFill>
                          <a:latin typeface="Arial" pitchFamily="34" charset="0"/>
                          <a:ea typeface="Arial" pitchFamily="34" charset="-122"/>
                          <a:cs typeface="Arial" pitchFamily="34" charset="-120"/>
                        </a:rPr>
                        <a:t>0.799</a:t>
                      </a:r>
                      <a:endParaRPr lang="en-US" sz="137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5430639"/>
            <a:ext cx="1088339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Người học số 4, mục tiêu Business English, TG hiện tại 0.76. TG và PAS như slide 10. Đây là kế hoạch dự báo từ mô hình mô phỏng, không phải kết quả thật.</a:t>
            </a:r>
            <a:endParaRPr lang="en-US" sz="1200" dirty="0"/>
          </a:p>
        </p:txBody>
      </p:sp>
      <p:sp>
        <p:nvSpPr>
          <p:cNvPr id="5" name="Text 2"/>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18/22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Chạy demo và dữ liệu mẫu</a:t>
            </a:r>
            <a:endParaRPr lang="en-US" sz="2800" dirty="0"/>
          </a:p>
        </p:txBody>
      </p:sp>
      <p:sp>
        <p:nvSpPr>
          <p:cNvPr id="3" name="Shape 1"/>
          <p:cNvSpPr/>
          <p:nvPr/>
        </p:nvSpPr>
        <p:spPr>
          <a:xfrm>
            <a:off x="812800" y="1407120"/>
            <a:ext cx="10566400" cy="2293640"/>
          </a:xfrm>
          <a:prstGeom prst="roundRect">
            <a:avLst>
              <a:gd name="adj" fmla="val 4430"/>
            </a:avLst>
          </a:prstGeom>
          <a:solidFill>
            <a:srgbClr val="1B1F2A"/>
          </a:solidFill>
          <a:ln/>
        </p:spPr>
      </p:sp>
      <p:sp>
        <p:nvSpPr>
          <p:cNvPr id="4" name="Text 2"/>
          <p:cNvSpPr/>
          <p:nvPr/>
        </p:nvSpPr>
        <p:spPr>
          <a:xfrm>
            <a:off x="990600" y="1584920"/>
            <a:ext cx="10517124" cy="2349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E8E6DF"/>
                </a:solidFill>
                <a:latin typeface="Courier New" pitchFamily="49" charset="0"/>
                <a:ea typeface="Courier New" pitchFamily="49" charset="-122"/>
                <a:cs typeface="Courier New" pitchFamily="49" charset="-120"/>
              </a:rPr>
              <a:t># Dữ liệu tổng hợp (mô phỏng), không phải người học thật</a:t>
            </a:r>
            <a:endParaRPr lang="en-US" sz="1100" dirty="0"/>
          </a:p>
        </p:txBody>
      </p:sp>
      <p:sp>
        <p:nvSpPr>
          <p:cNvPr id="5" name="Text 3"/>
          <p:cNvSpPr/>
          <p:nvPr/>
        </p:nvSpPr>
        <p:spPr>
          <a:xfrm>
            <a:off x="990600" y="1794470"/>
            <a:ext cx="10517124" cy="2349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E8E6DF"/>
                </a:solidFill>
                <a:latin typeface="Courier New" pitchFamily="49" charset="0"/>
                <a:ea typeface="Courier New" pitchFamily="49" charset="-122"/>
                <a:cs typeface="Courier New" pitchFamily="49" charset="-120"/>
              </a:rPr>
              <a:t>pip install numpy pandas matplotlib scikit-learn</a:t>
            </a:r>
            <a:endParaRPr lang="en-US" sz="1100" dirty="0"/>
          </a:p>
        </p:txBody>
      </p:sp>
      <p:sp>
        <p:nvSpPr>
          <p:cNvPr id="6" name="Text 4"/>
          <p:cNvSpPr/>
          <p:nvPr/>
        </p:nvSpPr>
        <p:spPr>
          <a:xfrm>
            <a:off x="990600" y="2004020"/>
            <a:ext cx="10517124" cy="2349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E8E6DF"/>
                </a:solidFill>
                <a:latin typeface="Courier New" pitchFamily="49" charset="0"/>
                <a:ea typeface="Courier New" pitchFamily="49" charset="-122"/>
                <a:cs typeface="Courier New" pitchFamily="49" charset="-120"/>
              </a:rPr>
              <a:t>python persona_vector_english_learner_demo.py --export demo_output</a:t>
            </a:r>
            <a:endParaRPr lang="en-US" sz="1100" dirty="0"/>
          </a:p>
        </p:txBody>
      </p:sp>
      <p:sp>
        <p:nvSpPr>
          <p:cNvPr id="7" name="Text 5"/>
          <p:cNvSpPr/>
          <p:nvPr/>
        </p:nvSpPr>
        <p:spPr>
          <a:xfrm>
            <a:off x="990600" y="2213570"/>
            <a:ext cx="10517124" cy="2349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E8E6DF"/>
                </a:solidFill>
                <a:latin typeface="Courier New" pitchFamily="49" charset="0"/>
                <a:ea typeface="Courier New" pitchFamily="49" charset="-122"/>
                <a:cs typeface="Courier New" pitchFamily="49" charset="-120"/>
              </a:rPr>
              <a:t>jupyter notebook persona_roadmap_english_learner.ipynb</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3916660"/>
          <a:ext cx="10553700" cy="2583656"/>
        </p:xfrm>
        <a:graphic>
          <a:graphicData uri="http://schemas.openxmlformats.org/drawingml/2006/table">
            <a:tbl>
              <a:tblPr/>
              <a:tblGrid>
                <a:gridCol w="5276850"/>
                <a:gridCol w="5276850"/>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Cột trong events.csv</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Ý nghĩa</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learner_id, day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mã người học, ngày thứ mấy trong 28 ngày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minutes</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số phút của phiên học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quiz_total, quiz_correct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số câu hỏi, số câu đúng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speak_done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bài nói hoàn thành (tối đa 4)</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exam_done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bài luyện thi hoàn thành (tối đa 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aligned</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lần chọn nội dung đúng mục tiêu (tối đa 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plan_accepted, community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gợi ý kế hoạch được chấp nhận (tối đa 3), tương tác cộng đồng (tối đa 2)</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9" name="Text 6"/>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19/22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Bảng tra ký hiệu và câu hỏi thảo luận</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2260699"/>
        </p:xfrm>
        <a:graphic>
          <a:graphicData uri="http://schemas.openxmlformats.org/drawingml/2006/table">
            <a:tbl>
              <a:tblPr/>
              <a:tblGrid>
                <a:gridCol w="5276850"/>
                <a:gridCol w="5276850"/>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Ký hiệu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Ý nghĩa</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 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persona hiện tại, persona mong muốn (vector 7 số trong [0, 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V, B, N, I, E, A, R</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động lực, thói quen, kỹ năng, ý định, tự tin, mục tiêu rõ, hỗ trợ xã hội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TG, PAS, TV</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khoảng cách chuyển hóa, điểm căn chỉnh persona, tốc độ chuyển hóa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 U, Q, K, z</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bất định, độ lệch chuẩn (căn của S), nhiễu quá trình, độ lợi Kalman, số đo mới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NBTA, uplift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hoạt động chuyển hóa tốt nhất tiếp theo, hiệu ứng tăng thêm so với đối chứng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CTRL, PROTECTED</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mặt nạ chiều được tính, các chiều V và E được bảo vệ</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Shape 1"/>
          <p:cNvSpPr/>
          <p:nvPr/>
        </p:nvSpPr>
        <p:spPr>
          <a:xfrm>
            <a:off x="815975" y="3545185"/>
            <a:ext cx="10560050" cy="2293640"/>
          </a:xfrm>
          <a:prstGeom prst="roundRect">
            <a:avLst>
              <a:gd name="adj" fmla="val 4291"/>
            </a:avLst>
          </a:prstGeom>
          <a:solidFill>
            <a:srgbClr val="FFFFFF"/>
          </a:solidFill>
          <a:ln w="6350">
            <a:solidFill>
              <a:srgbClr val="DDD9CF"/>
            </a:solidFill>
            <a:prstDash val="solid"/>
          </a:ln>
        </p:spPr>
      </p:sp>
      <p:sp>
        <p:nvSpPr>
          <p:cNvPr id="5" name="Text 2"/>
          <p:cNvSpPr/>
          <p:nvPr/>
        </p:nvSpPr>
        <p:spPr>
          <a:xfrm>
            <a:off x="996950" y="3726160"/>
            <a:ext cx="105040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8B8D"/>
                </a:solidFill>
                <a:latin typeface="Arial" pitchFamily="34" charset="0"/>
                <a:ea typeface="Arial" pitchFamily="34" charset="-122"/>
                <a:cs typeface="Arial" pitchFamily="34" charset="-120"/>
              </a:rPr>
              <a:t>Thảo luận</a:t>
            </a:r>
            <a:endParaRPr lang="en-US" sz="1500" dirty="0"/>
          </a:p>
        </p:txBody>
      </p:sp>
      <p:sp>
        <p:nvSpPr>
          <p:cNvPr id="6" name="Text 3"/>
          <p:cNvSpPr/>
          <p:nvPr/>
        </p:nvSpPr>
        <p:spPr>
          <a:xfrm>
            <a:off x="996950" y="4018260"/>
            <a:ext cx="10504043"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B1F2A"/>
                </a:solidFill>
                <a:latin typeface="Arial" pitchFamily="34" charset="0"/>
                <a:ea typeface="Arial" pitchFamily="34" charset="-122"/>
                <a:cs typeface="Arial" pitchFamily="34" charset="-120"/>
              </a:rPr>
              <a:t>1. Chiều nào nên được bảo vệ khỏi can thiệp, và vì sao? 2. Khi nào nên để người duyệt thay vì tự động? 3. Dữ liệu thật khác dữ liệu mô phỏng ở điểm nào?</a:t>
            </a:r>
            <a:endParaRPr lang="en-US" sz="1200" dirty="0"/>
          </a:p>
        </p:txBody>
      </p:sp>
      <p:sp>
        <p:nvSpPr>
          <p:cNvPr id="7" name="Text 4"/>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20/22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Bảng thuật ngữ Anh-Việt (1/2): khái niệm và đo lường</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4521398"/>
        </p:xfrm>
        <a:graphic>
          <a:graphicData uri="http://schemas.openxmlformats.org/drawingml/2006/table">
            <a:tbl>
              <a:tblPr/>
              <a:tblGrid>
                <a:gridCol w="3517900"/>
                <a:gridCol w="3517900"/>
                <a:gridCol w="3517900"/>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Thuật ngữ tiếng Anh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Tiếng Việt</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Ký hiệu hoặc ghi chú</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Persona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persona: trạng thái ước lượng của một người học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Desired persona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persona mong muốn, điểm đặt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 Pd trong mã</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Vector</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vector: danh sách có thứ tự các số</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7 số trong [0, 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Dimension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chiều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V, B, N, I, E, A, R</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Data Journey Map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bản đồ hành trình dữ liệu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slide 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Trajectory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quỹ đạo</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chuỗi P theo tuần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Roadmap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lộ trình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slide 17, 18</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Segment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phân đoạn, nhóm người học</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K-means</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Transformation Gap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khoảng cách chuyển hóa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Persona Alignment Score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điểm căn chỉnh persona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PAS, từ 0 đến 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Transformation Velocity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tốc độ chuyển hóa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TV, TG giảm mỗi tuần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Uncertainty</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bất định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 U = căn của S</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Observation / Noise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số đo quan sát / nhiễu</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z / Q, R_DIAG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21/22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1F2A"/>
                </a:solidFill>
                <a:latin typeface="Georgia" pitchFamily="18" charset="0"/>
                <a:ea typeface="Georgia" pitchFamily="18" charset="-122"/>
                <a:cs typeface="Georgia" pitchFamily="18" charset="-120"/>
              </a:rPr>
              <a:t>Bảng thuật ngữ Anh-Việt (2/2): thuật toán và hệ thống</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9820"/>
          <a:ext cx="10553700" cy="4521398"/>
        </p:xfrm>
        <a:graphic>
          <a:graphicData uri="http://schemas.openxmlformats.org/drawingml/2006/table">
            <a:tbl>
              <a:tblPr/>
              <a:tblGrid>
                <a:gridCol w="3517900"/>
                <a:gridCol w="3517900"/>
                <a:gridCol w="3517900"/>
              </a:tblGrid>
              <a:tr h="322957">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Thuật ngữ tiếng Anh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Tiếng Việt</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344"/>
                        </a:lnSpc>
                        <a:buNone/>
                      </a:pPr>
                      <a:r>
                        <a:rPr lang="en-US" sz="960" b="1" dirty="0">
                          <a:solidFill>
                            <a:srgbClr val="0F8B8D"/>
                          </a:solidFill>
                          <a:latin typeface="Arial" pitchFamily="34" charset="0"/>
                          <a:ea typeface="Arial" pitchFamily="34" charset="-122"/>
                          <a:cs typeface="Arial" pitchFamily="34" charset="-120"/>
                        </a:rPr>
                        <a:t>Ký hiệu hoặc ghi chú</a:t>
                      </a:r>
                      <a:endParaRPr lang="en-US" sz="960" dirty="0">
                        <a:latin typeface="Arial" charset="0"/>
                        <a:ea typeface="Arial" charset="0"/>
                        <a:cs typeface="Arial" charset="0"/>
                      </a:endParaRPr>
                    </a:p>
                  </a:txBody>
                  <a:tcPr marL="101600" marR="101600" marT="69850" marB="6985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Kalman filter</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lọc Kalman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P, S, K</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K-means</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gom cụm K-means</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 = 3 nhóm</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Silhouette score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điểm silhouette: độ tách cụm</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−1 đến 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Adjusted Rand Index</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chỉ số Rand điều chỉnh: độ ổn định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ARI, 0 đến 1</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RMSE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căn sai số bình phương trung bình</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so với persona thật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Next Best Transformation Action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hoạt động chuyển hóa tốt nhất tiếp theo</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NBTA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Thompson Sampling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lấy mẫu Thompson, thuật toán bandit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alpha, beta, theta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Uplift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hiệu ứng tăng thêm so với đối chứng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slide 14</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Control group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nhóm đối chứng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không can thiệp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Mask / Protected dimension</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mặt nạ / chiều được bảo vệ</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CTRL, PROTECTED (V, 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Guardrail / Human review</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cổng kiểm soát / người duyệt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slide 15</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Fatigue</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mệt mỏi: hiệu quả giảm khi lặp lại</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0.85 mỗi lần lặp</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2957">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Synthetic data</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dữ liệu tổng hợp (mô phỏng)</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344"/>
                        </a:lnSpc>
                        <a:buNone/>
                      </a:pPr>
                      <a:r>
                        <a:rPr lang="en-US" sz="960" dirty="0">
                          <a:solidFill>
                            <a:srgbClr val="1B1F2A"/>
                          </a:solidFill>
                          <a:latin typeface="Arial" pitchFamily="34" charset="0"/>
                          <a:ea typeface="Arial" pitchFamily="34" charset="-122"/>
                          <a:cs typeface="Arial" pitchFamily="34" charset="-120"/>
                        </a:rPr>
                        <a:t>không phải người học thật</a:t>
                      </a:r>
                      <a:endParaRPr lang="en-US" sz="960" dirty="0">
                        <a:latin typeface="Arial" charset="0"/>
                        <a:ea typeface="Arial" charset="0"/>
                        <a:cs typeface="Arial" charset="0"/>
                      </a:endParaRPr>
                    </a:p>
                  </a:txBody>
                  <a:tcPr marL="101600" marR="101600" marT="69850" marB="6985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4" name="Text 1"/>
          <p:cNvSpPr/>
          <p:nvPr/>
        </p:nvSpPr>
        <p:spPr>
          <a:xfrm>
            <a:off x="812800" y="6238280"/>
            <a:ext cx="2253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8"/>
                </a:solidFill>
                <a:latin typeface="Arial" pitchFamily="34" charset="0"/>
                <a:ea typeface="Arial" pitchFamily="34" charset="-122"/>
                <a:cs typeface="Arial" pitchFamily="34" charset="-120"/>
              </a:rPr>
              <a:t>Persona as a Vector | 22/22</a:t>
            </a:r>
            <a:endParaRPr lang="en-US" sz="1200" dirty="0"/>
          </a:p>
        </p:txBody>
      </p:sp>
    </p:spTree>
  </p:cSld>
  <p:clrMapOvr>
    <a:masterClrMapping/>
  </p:clrMapOvr>
</p:sld>
</file>

<file path=ppt/theme/theme1.xml><?xml version="1.0" encoding="utf-8"?>
<a:theme xmlns:a="http://schemas.openxmlformats.org/drawingml/2006/main" name="Persona as a Vector: bài giảng cá nhân hóa học tiếng Anh">
  <a:themeElements>
    <a:clrScheme name="Persona as a Vector: bài giảng cá nhân hóa học tiếng Anh">
      <a:dk1>
        <a:srgbClr val="1B1F2A"/>
      </a:dk1>
      <a:lt1>
        <a:srgbClr val="F6F4EF"/>
      </a:lt1>
      <a:dk2>
        <a:srgbClr val="52545B"/>
      </a:dk2>
      <a:lt2>
        <a:srgbClr val="E0DFDB"/>
      </a:lt2>
      <a:accent1>
        <a:srgbClr val="0F8B8D"/>
      </a:accent1>
      <a:accent2>
        <a:srgbClr val="5EC4C6"/>
      </a:accent2>
      <a:accent3>
        <a:srgbClr val="6B6F78"/>
      </a:accent3>
      <a:accent4>
        <a:srgbClr val="A9ADB6"/>
      </a:accent4>
      <a:accent5>
        <a:srgbClr val="D8D5CC"/>
      </a:accent5>
      <a:accent6>
        <a:srgbClr val="9AA0A6"/>
      </a:accent6>
      <a:hlink>
        <a:srgbClr val="0563C1"/>
      </a:hlink>
      <a:folHlink>
        <a:srgbClr val="954F72"/>
      </a:folHlink>
    </a:clrScheme>
    <a:fontScheme name="Persona as a Vector: bài giảng cá nhân hóa học tiếng An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 as a Vector: bài giảng cá nhân hóa học tiếng Anh</dc:title>
  <dc:subject/>
  <dc:creator/>
  <cp:lastModifiedBy/>
  <cp:revision>1</cp:revision>
  <dcterms:created xsi:type="dcterms:W3CDTF">2026-10-09T06:34:32Z</dcterms:created>
  <dcterms:modified xsi:type="dcterms:W3CDTF">2026-10-09T06:34:32Z</dcterms:modified>
</cp:coreProperties>
</file>